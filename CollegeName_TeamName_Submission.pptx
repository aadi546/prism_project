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c:v>
                </c:pt>
              </c:strCache>
            </c:strRef>
          </c:tx>
          <c:spPr>
            <a:solidFill>
              <a:srgbClr val="9CA3AF"/>
            </a:solidFill>
          </c:spPr>
          <c:cat>
            <c:strRef>
              <c:f>Sheet1!$A$2:$A$5</c:f>
              <c:strCache>
                <c:ptCount val="4"/>
                <c:pt idx="0">
                  <c:v>Rule compliance</c:v>
                </c:pt>
                <c:pt idx="1">
                  <c:v>Exact deeplink screen</c:v>
                </c:pt>
                <c:pt idx="2">
                  <c:v>Paraphrase cache hits</c:v>
                </c:pt>
                <c:pt idx="3">
                  <c:v>Checkable validation</c:v>
                </c:pt>
              </c:strCache>
            </c:strRef>
          </c:cat>
          <c:val>
            <c:numRef>
              <c:f>Sheet1!$B$2:$B$5</c:f>
              <c:numCache>
                <c:formatCode>General</c:formatCode>
                <c:ptCount val="4"/>
                <c:pt idx="0">
                  <c:v>5.0</c:v>
                </c:pt>
                <c:pt idx="1">
                  <c:v>1.5</c:v>
                </c:pt>
                <c:pt idx="2">
                  <c:v>0.0</c:v>
                </c:pt>
                <c:pt idx="3">
                  <c:v>0.0</c:v>
                </c:pt>
              </c:numCache>
            </c:numRef>
          </c:val>
        </c:ser>
        <c:ser>
          <c:idx val="1"/>
          <c:order val="1"/>
          <c:tx>
            <c:strRef>
              <c:f>Sheet1!$C$1</c:f>
              <c:strCache>
                <c:ptCount val="1"/>
                <c:pt idx="0">
                  <c:v>After</c:v>
                </c:pt>
              </c:strCache>
            </c:strRef>
          </c:tx>
          <c:spPr>
            <a:solidFill>
              <a:srgbClr val="1428A0"/>
            </a:solidFill>
          </c:spPr>
          <c:cat>
            <c:strRef>
              <c:f>Sheet1!$A$2:$A$5</c:f>
              <c:strCache>
                <c:ptCount val="4"/>
                <c:pt idx="0">
                  <c:v>Rule compliance</c:v>
                </c:pt>
                <c:pt idx="1">
                  <c:v>Exact deeplink screen</c:v>
                </c:pt>
                <c:pt idx="2">
                  <c:v>Paraphrase cache hits</c:v>
                </c:pt>
                <c:pt idx="3">
                  <c:v>Checkable validation</c:v>
                </c:pt>
              </c:strCache>
            </c:strRef>
          </c:cat>
          <c:val>
            <c:numRef>
              <c:f>Sheet1!$C$2:$C$5</c:f>
              <c:numCache>
                <c:formatCode>General</c:formatCode>
                <c:ptCount val="4"/>
                <c:pt idx="0">
                  <c:v>100.0</c:v>
                </c:pt>
                <c:pt idx="1">
                  <c:v>100.0</c:v>
                </c:pt>
                <c:pt idx="2">
                  <c:v>90.0</c:v>
                </c:pt>
                <c:pt idx="3">
                  <c:v>68.0</c:v>
                </c:pt>
              </c:numCache>
            </c:numRef>
          </c:val>
        </c:ser>
        <c:dLbls>
          <c:numFmt formatCode="0&quot;%&quot;" sourceLinked="0"/>
          <c:txPr>
            <a:bodyPr/>
            <a:lstStyle/>
            <a:p>
              <a:pPr>
                <a:defRPr sz="10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111827"/>
                </a:solidFill>
              </a:defRPr>
            </a:pPr>
          </a:p>
        </c:txPr>
        <c:crossAx val="-2113994440"/>
        <c:crosses val="autoZero"/>
        <c:auto val="1"/>
        <c:lblAlgn val="ctr"/>
        <c:lblOffset val="100"/>
        <c:noMultiLvlLbl val="0"/>
      </c:catAx>
      <c:valAx>
        <c:axId val="-2113994440"/>
        <c:scaling>
          <c:max val="108.0"/>
          <c:min val="0.0"/>
        </c:scaling>
        <c:delete val="0"/>
        <c:axPos val="l"/>
        <c:majorGridlines>
          <c:spPr>
            <a:ln>
              <a:solidFill>
                <a:srgbClr val="D1D5DB"/>
              </a:solidFill>
            </a:ln>
          </c:spPr>
        </c:majorGridlines>
        <c:majorTickMark val="out"/>
        <c:minorTickMark val="none"/>
        <c:tickLblPos val="nextTo"/>
        <c:spPr>
          <a:ln>
            <a:noFill/>
          </a:ln>
        </c:spPr>
        <c:txPr>
          <a:bodyPr/>
          <a:lstStyle/>
          <a:p>
            <a:pPr>
              <a:defRPr sz="1000">
                <a:solidFill>
                  <a:srgbClr val="4B5563"/>
                </a:solidFill>
              </a:defRPr>
            </a:pPr>
          </a:p>
        </c:txPr>
        <c:crossAx val="-2068027336"/>
        <c:crosses val="autoZero"/>
        <c:majorUnit val="20.0"/>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Start with the three complaints, they're straight from input.txt. Point out none of them say which setting is wrong. Right side is a trimmed version of our real output for the first one.</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Left is the current manual process. Right: the first five are holes in the brief itself, the last three are what we saw when we actually ran the starter engine on the 20 kit queries.</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Walk left to right. Mention the two exits that return early: cache hit (about 1 ms) and empty plan when no article fits. Then the bottom box, which is our innovation, more on slide 8.</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Live demo order: touchscreen complaint -&gt; Run safe steps -&gt; show the phone flipping Touch sensitivity -&gt; unlock last resort -&gt; Trace tab hover -&gt; Batch run for all 20.</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Keep it quick. The main point: no paid model needed to hit the targets, Groq is there for article layouts we haven't seen.</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Who benefits: call-centre agents (no manual triage), customers (one tap instead of menu hunting), and service centres (fewer resets and walk-ins for things a toggle fixes).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Chart is all percentages; deeplink relevance was out of 2 so we doubled it to a percent. Be upfront on limitations, judges like that. The simulator is the honest weak spot.</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Roadmap, left to right is roughly the order we'd do it in. Number 1 matters most since the loop is only simulated right now.</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If time is short, just say the first two cards.</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endParaRP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5852160" cy="77724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1- </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2-</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3- </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4-</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Submission Github link - </a:t>
            </a:r>
            <a:endParaRPr/>
          </a:p>
          <a:p>
            <a:pPr indent="-76200" lvl="0" marL="177800" marR="0" rtl="0" algn="l">
              <a:spcBef>
                <a:spcPts val="500"/>
              </a:spcBef>
              <a:spcAft>
                <a:spcPts val="0"/>
              </a:spcAft>
              <a:buClr>
                <a:schemeClr val="dk1"/>
              </a:buClr>
              <a:buSzPts val="1600"/>
              <a:buFont typeface="Calibri"/>
              <a:buNone/>
            </a:pPr>
            <a:r>
              <a:t/>
            </a:r>
            <a:endParaRPr b="0" i="0" sz="1600" u="none" cap="none" strike="noStrike">
              <a:solidFill>
                <a:srgbClr val="63637E"/>
              </a:solidFill>
              <a:latin typeface="Calibri"/>
              <a:ea typeface="Calibri"/>
              <a:cs typeface="Calibri"/>
              <a:sym typeface="Calibri"/>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a:t>
            </a:r>
            <a:endParaRPr/>
          </a:p>
        </p:txBody>
      </p:sp>
      <p:sp>
        <p:nvSpPr>
          <p:cNvPr id="102" name="TextBox 101"/>
          <p:cNvSpPr txBox="1"/>
          <p:nvPr/>
        </p:nvSpPr>
        <p:spPr>
          <a:xfrm>
            <a:off x="841248" y="1600200"/>
            <a:ext cx="10515600" cy="457200"/>
          </a:xfrm>
          <a:prstGeom prst="rect">
            <a:avLst/>
          </a:prstGeom>
          <a:noFill/>
        </p:spPr>
        <p:txBody>
          <a:bodyPr wrap="square" anchor="t" lIns="0" rIns="0" tIns="18288" bIns="18288">
            <a:spAutoFit/>
          </a:bodyPr>
          <a:lstStyle/>
          <a:p>
            <a:pPr algn="l">
              <a:spcAft>
                <a:spcPts val="400"/>
              </a:spcAft>
            </a:pPr>
            <a:r>
              <a:rPr sz="2000" b="1">
                <a:solidFill>
                  <a:srgbClr val="1428A0"/>
                </a:solidFill>
                <a:latin typeface="Calibri"/>
              </a:rPr>
              <a:t>Theme 2: Smart Guided Troubleshooting Engine</a:t>
            </a:r>
          </a:p>
        </p:txBody>
      </p:sp>
      <p:sp>
        <p:nvSpPr>
          <p:cNvPr id="103" name="TextBox 102"/>
          <p:cNvSpPr txBox="1"/>
          <p:nvPr/>
        </p:nvSpPr>
        <p:spPr>
          <a:xfrm>
            <a:off x="841248" y="2057400"/>
            <a:ext cx="4937760" cy="365760"/>
          </a:xfrm>
          <a:prstGeom prst="rect">
            <a:avLst/>
          </a:prstGeom>
          <a:noFill/>
        </p:spPr>
        <p:txBody>
          <a:bodyPr wrap="square" anchor="t" lIns="0" rIns="0" tIns="18288" bIns="18288">
            <a:spAutoFit/>
          </a:bodyPr>
          <a:lstStyle/>
          <a:p>
            <a:pPr algn="l">
              <a:spcAft>
                <a:spcPts val="400"/>
              </a:spcAft>
            </a:pPr>
            <a:r>
              <a:rPr sz="1300" b="1">
                <a:solidFill>
                  <a:srgbClr val="4B5563"/>
                </a:solidFill>
                <a:latin typeface="Calibri"/>
              </a:rPr>
              <a:t>What customers actually type (from the kit)</a:t>
            </a:r>
          </a:p>
        </p:txBody>
      </p:sp>
      <p:sp>
        <p:nvSpPr>
          <p:cNvPr id="104" name="Rounded Rectangle 103"/>
          <p:cNvSpPr/>
          <p:nvPr/>
        </p:nvSpPr>
        <p:spPr>
          <a:xfrm>
            <a:off x="841248" y="2468880"/>
            <a:ext cx="4937760" cy="841248"/>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24128" y="2560320"/>
            <a:ext cx="4572000" cy="685800"/>
          </a:xfrm>
          <a:prstGeom prst="rect">
            <a:avLst/>
          </a:prstGeom>
          <a:noFill/>
        </p:spPr>
        <p:txBody>
          <a:bodyPr wrap="square" anchor="ctr" lIns="0" rIns="0" tIns="18288" bIns="18288">
            <a:spAutoFit/>
          </a:bodyPr>
          <a:lstStyle/>
          <a:p>
            <a:pPr algn="l">
              <a:spcAft>
                <a:spcPts val="400"/>
              </a:spcAft>
            </a:pPr>
            <a:r>
              <a:rPr sz="1400" b="0">
                <a:solidFill>
                  <a:srgbClr val="111827"/>
                </a:solidFill>
                <a:latin typeface="Calibri"/>
              </a:rPr>
              <a:t>“My Galaxy S22 screen inputs are delayed and the touch responsiveness is laggy.”</a:t>
            </a:r>
          </a:p>
        </p:txBody>
      </p:sp>
      <p:sp>
        <p:nvSpPr>
          <p:cNvPr id="106" name="Rounded Rectangle 105"/>
          <p:cNvSpPr/>
          <p:nvPr/>
        </p:nvSpPr>
        <p:spPr>
          <a:xfrm>
            <a:off x="841248" y="3456432"/>
            <a:ext cx="4937760" cy="841248"/>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24128" y="3547872"/>
            <a:ext cx="4572000" cy="685800"/>
          </a:xfrm>
          <a:prstGeom prst="rect">
            <a:avLst/>
          </a:prstGeom>
          <a:noFill/>
        </p:spPr>
        <p:txBody>
          <a:bodyPr wrap="square" anchor="ctr" lIns="0" rIns="0" tIns="18288" bIns="18288">
            <a:spAutoFit/>
          </a:bodyPr>
          <a:lstStyle/>
          <a:p>
            <a:pPr algn="l">
              <a:spcAft>
                <a:spcPts val="400"/>
              </a:spcAft>
            </a:pPr>
            <a:r>
              <a:rPr sz="1400" b="0">
                <a:solidFill>
                  <a:srgbClr val="111827"/>
                </a:solidFill>
                <a:latin typeface="Calibri"/>
              </a:rPr>
              <a:t>“My Galaxy phone's screen is completely cracked, it's a total crack and I can't use the device.”</a:t>
            </a:r>
          </a:p>
        </p:txBody>
      </p:sp>
      <p:sp>
        <p:nvSpPr>
          <p:cNvPr id="108" name="Rounded Rectangle 107"/>
          <p:cNvSpPr/>
          <p:nvPr/>
        </p:nvSpPr>
        <p:spPr>
          <a:xfrm>
            <a:off x="841248" y="4443984"/>
            <a:ext cx="4937760" cy="841248"/>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24128" y="4535424"/>
            <a:ext cx="4572000" cy="685800"/>
          </a:xfrm>
          <a:prstGeom prst="rect">
            <a:avLst/>
          </a:prstGeom>
          <a:noFill/>
        </p:spPr>
        <p:txBody>
          <a:bodyPr wrap="square" anchor="ctr" lIns="0" rIns="0" tIns="18288" bIns="18288">
            <a:spAutoFit/>
          </a:bodyPr>
          <a:lstStyle/>
          <a:p>
            <a:pPr algn="l">
              <a:spcAft>
                <a:spcPts val="400"/>
              </a:spcAft>
            </a:pPr>
            <a:r>
              <a:rPr sz="1400" b="0">
                <a:solidFill>
                  <a:srgbClr val="111827"/>
                </a:solidFill>
                <a:latin typeface="Calibri"/>
              </a:rPr>
              <a:t>“My Galaxy S24 Ultra screen is completely black and won't turn on, even though the phone powers on.”</a:t>
            </a:r>
          </a:p>
        </p:txBody>
      </p:sp>
      <p:cxnSp>
        <p:nvCxnSpPr>
          <p:cNvPr id="110" name="Connector 109"/>
          <p:cNvCxnSpPr/>
          <p:nvPr/>
        </p:nvCxnSpPr>
        <p:spPr>
          <a:xfrm>
            <a:off x="5943600" y="3886200"/>
            <a:ext cx="685800" cy="0"/>
          </a:xfrm>
          <a:prstGeom prst="line">
            <a:avLst/>
          </a:prstGeom>
          <a:ln w="38100">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6812280" y="2057400"/>
            <a:ext cx="4526280" cy="3337560"/>
          </a:xfrm>
          <a:prstGeom prst="roundRect">
            <a:avLst>
              <a:gd name="adj" fmla="val 8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040880" y="2194560"/>
            <a:ext cx="4114800" cy="548640"/>
          </a:xfrm>
          <a:prstGeom prst="rect">
            <a:avLst/>
          </a:prstGeom>
          <a:noFill/>
        </p:spPr>
        <p:txBody>
          <a:bodyPr wrap="square" anchor="t" lIns="0" rIns="0" tIns="18288" bIns="18288">
            <a:spAutoFit/>
          </a:bodyPr>
          <a:lstStyle/>
          <a:p>
            <a:pPr algn="l">
              <a:spcAft>
                <a:spcPts val="400"/>
              </a:spcAft>
            </a:pPr>
            <a:r>
              <a:rPr sz="1200" b="1">
                <a:solidFill>
                  <a:srgbClr val="4B5563"/>
                </a:solidFill>
                <a:latin typeface="Calibri"/>
              </a:rPr>
              <a:t>What the engine sends back</a:t>
            </a:r>
          </a:p>
          <a:p>
            <a:pPr algn="l">
              <a:spcAft>
                <a:spcPts val="400"/>
              </a:spcAft>
            </a:pPr>
            <a:r>
              <a:rPr sz="1400" b="1">
                <a:solidFill>
                  <a:srgbClr val="111827"/>
                </a:solidFill>
                <a:latin typeface="Calibri"/>
              </a:rPr>
              <a:t>Follow these steps to perform this Touchscreen Troubleshooting</a:t>
            </a:r>
          </a:p>
        </p:txBody>
      </p:sp>
      <p:sp>
        <p:nvSpPr>
          <p:cNvPr id="113" name="Rounded Rectangle 112"/>
          <p:cNvSpPr/>
          <p:nvPr/>
        </p:nvSpPr>
        <p:spPr>
          <a:xfrm>
            <a:off x="7040880" y="3200400"/>
            <a:ext cx="868680" cy="274320"/>
          </a:xfrm>
          <a:prstGeom prst="roundRect">
            <a:avLst>
              <a:gd name="adj"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auto</a:t>
            </a:r>
          </a:p>
        </p:txBody>
      </p:sp>
      <p:sp>
        <p:nvSpPr>
          <p:cNvPr id="114" name="TextBox 113"/>
          <p:cNvSpPr txBox="1"/>
          <p:nvPr/>
        </p:nvSpPr>
        <p:spPr>
          <a:xfrm>
            <a:off x="8046720" y="3136392"/>
            <a:ext cx="3200400" cy="6400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Enable Touch Sensitivity</a:t>
            </a:r>
          </a:p>
          <a:p>
            <a:pPr algn="l">
              <a:spcAft>
                <a:spcPts val="400"/>
              </a:spcAft>
            </a:pPr>
            <a:r>
              <a:rPr sz="1100" b="0">
                <a:solidFill>
                  <a:srgbClr val="4B5563"/>
                </a:solidFill>
                <a:latin typeface="Consolas"/>
              </a:rPr>
              <a:t>bixby://masked/act/14eb42b895</a:t>
            </a:r>
          </a:p>
        </p:txBody>
      </p:sp>
      <p:sp>
        <p:nvSpPr>
          <p:cNvPr id="115" name="Rounded Rectangle 114"/>
          <p:cNvSpPr/>
          <p:nvPr/>
        </p:nvSpPr>
        <p:spPr>
          <a:xfrm>
            <a:off x="7040880" y="3913632"/>
            <a:ext cx="868680" cy="27432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manual</a:t>
            </a:r>
          </a:p>
        </p:txBody>
      </p:sp>
      <p:sp>
        <p:nvSpPr>
          <p:cNvPr id="116" name="TextBox 115"/>
          <p:cNvSpPr txBox="1"/>
          <p:nvPr/>
        </p:nvSpPr>
        <p:spPr>
          <a:xfrm>
            <a:off x="8046720" y="3849624"/>
            <a:ext cx="3200400" cy="6400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Check the Charger</a:t>
            </a:r>
          </a:p>
          <a:p>
            <a:pPr algn="l">
              <a:spcAft>
                <a:spcPts val="400"/>
              </a:spcAft>
            </a:pPr>
            <a:r>
              <a:rPr sz="1100" b="0">
                <a:solidFill>
                  <a:srgbClr val="4B5563"/>
                </a:solidFill>
                <a:latin typeface="Calibri"/>
              </a:rPr>
              <a:t>no link, you do it by hand</a:t>
            </a:r>
          </a:p>
        </p:txBody>
      </p:sp>
      <p:sp>
        <p:nvSpPr>
          <p:cNvPr id="117" name="Rounded Rectangle 116"/>
          <p:cNvSpPr/>
          <p:nvPr/>
        </p:nvSpPr>
        <p:spPr>
          <a:xfrm>
            <a:off x="7040880" y="4626864"/>
            <a:ext cx="868680" cy="27432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critical</a:t>
            </a:r>
          </a:p>
        </p:txBody>
      </p:sp>
      <p:sp>
        <p:nvSpPr>
          <p:cNvPr id="118" name="TextBox 117"/>
          <p:cNvSpPr txBox="1"/>
          <p:nvPr/>
        </p:nvSpPr>
        <p:spPr>
          <a:xfrm>
            <a:off x="8046720" y="4562856"/>
            <a:ext cx="3200400" cy="6400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Restart in Safe Mode</a:t>
            </a:r>
          </a:p>
          <a:p>
            <a:pPr algn="l">
              <a:spcAft>
                <a:spcPts val="400"/>
              </a:spcAft>
            </a:pPr>
            <a:r>
              <a:rPr sz="1100" b="0">
                <a:solidFill>
                  <a:srgbClr val="4B5563"/>
                </a:solidFill>
                <a:latin typeface="Calibri"/>
              </a:rPr>
              <a:t>only if the rest didn't help</a:t>
            </a:r>
          </a:p>
        </p:txBody>
      </p:sp>
      <p:sp>
        <p:nvSpPr>
          <p:cNvPr id="119" name="TextBox 118"/>
          <p:cNvSpPr txBox="1"/>
          <p:nvPr/>
        </p:nvSpPr>
        <p:spPr>
          <a:xfrm>
            <a:off x="841248" y="5577840"/>
            <a:ext cx="10515600" cy="822960"/>
          </a:xfrm>
          <a:prstGeom prst="rect">
            <a:avLst/>
          </a:prstGeom>
          <a:noFill/>
        </p:spPr>
        <p:txBody>
          <a:bodyPr wrap="square" anchor="t" lIns="0" rIns="0" tIns="18288" bIns="18288">
            <a:spAutoFit/>
          </a:bodyPr>
          <a:lstStyle/>
          <a:p>
            <a:pPr algn="l">
              <a:spcAft>
                <a:spcPts val="400"/>
              </a:spcAft>
            </a:pPr>
            <a:r>
              <a:rPr sz="1400" b="0">
                <a:solidFill>
                  <a:srgbClr val="4B5563"/>
                </a:solidFill>
                <a:latin typeface="Calibri"/>
              </a:rPr>
              <a:t>The job: turn a vague complaint into an ordered plan where every Settings step opens in one tap. Today an agent spends about 15 minutes per ticket reading articles and typing steps. The brief asks for under 300 ms on issues we've seen before and under 8 s for new ones.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TextBox 107"/>
          <p:cNvSpPr txBox="1"/>
          <p:nvPr/>
        </p:nvSpPr>
        <p:spPr>
          <a:xfrm>
            <a:off x="841248" y="1645920"/>
            <a:ext cx="3566160" cy="365760"/>
          </a:xfrm>
          <a:prstGeom prst="rect">
            <a:avLst/>
          </a:prstGeom>
          <a:noFill/>
        </p:spPr>
        <p:txBody>
          <a:bodyPr wrap="square" anchor="t" lIns="0" rIns="0" tIns="18288" bIns="18288">
            <a:spAutoFit/>
          </a:bodyPr>
          <a:lstStyle/>
          <a:p>
            <a:pPr algn="l">
              <a:spcAft>
                <a:spcPts val="400"/>
              </a:spcAft>
            </a:pPr>
            <a:r>
              <a:rPr sz="1600" b="1">
                <a:solidFill>
                  <a:srgbClr val="1428A0"/>
                </a:solidFill>
                <a:latin typeface="Calibri"/>
              </a:rPr>
              <a:t>How it's done today</a:t>
            </a:r>
          </a:p>
        </p:txBody>
      </p:sp>
      <p:sp>
        <p:nvSpPr>
          <p:cNvPr id="109" name="Oval 108"/>
          <p:cNvSpPr/>
          <p:nvPr/>
        </p:nvSpPr>
        <p:spPr>
          <a:xfrm>
            <a:off x="841248" y="2148840"/>
            <a:ext cx="457200" cy="45720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10" name="TextBox 109"/>
          <p:cNvSpPr txBox="1"/>
          <p:nvPr/>
        </p:nvSpPr>
        <p:spPr>
          <a:xfrm>
            <a:off x="1417320" y="2103120"/>
            <a:ext cx="3017520" cy="8686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Agent reads the SIIS article</a:t>
            </a:r>
          </a:p>
          <a:p>
            <a:pPr algn="l">
              <a:spcAft>
                <a:spcPts val="400"/>
              </a:spcAft>
            </a:pPr>
            <a:r>
              <a:rPr sz="1200" b="0">
                <a:solidFill>
                  <a:srgbClr val="4B5563"/>
                </a:solidFill>
                <a:latin typeface="Calibri"/>
              </a:rPr>
              <a:t>long help pages, half of it is background</a:t>
            </a:r>
          </a:p>
        </p:txBody>
      </p:sp>
      <p:sp>
        <p:nvSpPr>
          <p:cNvPr id="111" name="Oval 110"/>
          <p:cNvSpPr/>
          <p:nvPr/>
        </p:nvSpPr>
        <p:spPr>
          <a:xfrm>
            <a:off x="841248" y="3154680"/>
            <a:ext cx="457200" cy="45720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2" name="TextBox 111"/>
          <p:cNvSpPr txBox="1"/>
          <p:nvPr/>
        </p:nvSpPr>
        <p:spPr>
          <a:xfrm>
            <a:off x="1417320" y="3108960"/>
            <a:ext cx="3017520" cy="8686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Picks and orders the steps by hand</a:t>
            </a:r>
          </a:p>
          <a:p>
            <a:pPr algn="l">
              <a:spcAft>
                <a:spcPts val="400"/>
              </a:spcAft>
            </a:pPr>
            <a:r>
              <a:rPr sz="1200" b="0">
                <a:solidFill>
                  <a:srgbClr val="4B5563"/>
                </a:solidFill>
                <a:latin typeface="Calibri"/>
              </a:rPr>
              <a:t>different agents give different answers</a:t>
            </a:r>
          </a:p>
        </p:txBody>
      </p:sp>
      <p:sp>
        <p:nvSpPr>
          <p:cNvPr id="113" name="Oval 112"/>
          <p:cNvSpPr/>
          <p:nvPr/>
        </p:nvSpPr>
        <p:spPr>
          <a:xfrm>
            <a:off x="841248" y="4160520"/>
            <a:ext cx="457200" cy="45720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4" name="TextBox 113"/>
          <p:cNvSpPr txBox="1"/>
          <p:nvPr/>
        </p:nvSpPr>
        <p:spPr>
          <a:xfrm>
            <a:off x="1417320" y="4114800"/>
            <a:ext cx="3017520" cy="868680"/>
          </a:xfrm>
          <a:prstGeom prst="rect">
            <a:avLst/>
          </a:prstGeom>
          <a:noFill/>
        </p:spPr>
        <p:txBody>
          <a:bodyPr wrap="square" anchor="t" lIns="0" rIns="0" tIns="18288" bIns="18288">
            <a:spAutoFit/>
          </a:bodyPr>
          <a:lstStyle/>
          <a:p>
            <a:pPr algn="l">
              <a:spcAft>
                <a:spcPts val="400"/>
              </a:spcAft>
            </a:pPr>
            <a:r>
              <a:rPr sz="1400" b="1">
                <a:solidFill>
                  <a:srgbClr val="111827"/>
                </a:solidFill>
                <a:latin typeface="Calibri"/>
              </a:rPr>
              <a:t>Customer digs through menus</a:t>
            </a:r>
          </a:p>
          <a:p>
            <a:pPr algn="l">
              <a:spcAft>
                <a:spcPts val="400"/>
              </a:spcAft>
            </a:pPr>
            <a:r>
              <a:rPr sz="1200" b="0">
                <a:solidFill>
                  <a:srgbClr val="4B5563"/>
                </a:solidFill>
                <a:latin typeface="Calibri"/>
              </a:rPr>
              <a:t>Settings &gt; Display &gt; Navigation bar, on their own</a:t>
            </a:r>
          </a:p>
        </p:txBody>
      </p:sp>
      <p:sp>
        <p:nvSpPr>
          <p:cNvPr id="115" name="Rounded Rectangle 114"/>
          <p:cNvSpPr/>
          <p:nvPr/>
        </p:nvSpPr>
        <p:spPr>
          <a:xfrm>
            <a:off x="841248" y="5212080"/>
            <a:ext cx="3566160" cy="9601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5285232"/>
            <a:ext cx="3291840" cy="822960"/>
          </a:xfrm>
          <a:prstGeom prst="rect">
            <a:avLst/>
          </a:prstGeom>
          <a:noFill/>
        </p:spPr>
        <p:txBody>
          <a:bodyPr wrap="square" anchor="t" lIns="0" rIns="0" tIns="18288" bIns="18288">
            <a:spAutoFit/>
          </a:bodyPr>
          <a:lstStyle/>
          <a:p>
            <a:pPr algn="l">
              <a:spcAft>
                <a:spcPts val="400"/>
              </a:spcAft>
            </a:pPr>
            <a:r>
              <a:rPr sz="2600" b="1">
                <a:solidFill>
                  <a:srgbClr val="1428A0"/>
                </a:solidFill>
                <a:latin typeface="Calibri"/>
              </a:rPr>
              <a:t>~15 min</a:t>
            </a:r>
          </a:p>
          <a:p>
            <a:pPr algn="l">
              <a:spcAft>
                <a:spcPts val="400"/>
              </a:spcAft>
            </a:pPr>
            <a:r>
              <a:rPr sz="1200" b="0">
                <a:solidFill>
                  <a:srgbClr val="4B5563"/>
                </a:solidFill>
                <a:latin typeface="Calibri"/>
              </a:rPr>
              <a:t>per ticket, per the brief</a:t>
            </a:r>
          </a:p>
        </p:txBody>
      </p:sp>
      <p:sp>
        <p:nvSpPr>
          <p:cNvPr id="117" name="TextBox 116"/>
          <p:cNvSpPr txBox="1"/>
          <p:nvPr/>
        </p:nvSpPr>
        <p:spPr>
          <a:xfrm>
            <a:off x="4800600" y="1645920"/>
            <a:ext cx="6583680" cy="365760"/>
          </a:xfrm>
          <a:prstGeom prst="rect">
            <a:avLst/>
          </a:prstGeom>
          <a:noFill/>
        </p:spPr>
        <p:txBody>
          <a:bodyPr wrap="square" anchor="t" lIns="0" rIns="0" tIns="18288" bIns="18288">
            <a:spAutoFit/>
          </a:bodyPr>
          <a:lstStyle/>
          <a:p>
            <a:pPr algn="l">
              <a:spcAft>
                <a:spcPts val="400"/>
              </a:spcAft>
            </a:pPr>
            <a:r>
              <a:rPr sz="1600" b="1">
                <a:solidFill>
                  <a:srgbClr val="1428A0"/>
                </a:solidFill>
                <a:latin typeface="Calibri"/>
              </a:rPr>
              <a:t>What we found missing</a:t>
            </a:r>
          </a:p>
        </p:txBody>
      </p:sp>
      <p:graphicFrame>
        <p:nvGraphicFramePr>
          <p:cNvPr id="118" name="Table 117"/>
          <p:cNvGraphicFramePr>
            <a:graphicFrameLocks noGrp="1"/>
          </p:cNvGraphicFramePr>
          <p:nvPr/>
        </p:nvGraphicFramePr>
        <p:xfrm>
          <a:off x="4800600" y="2103120"/>
          <a:ext cx="6583680" cy="4023360"/>
        </p:xfrm>
        <a:graphic>
          <a:graphicData uri="http://schemas.openxmlformats.org/drawingml/2006/table">
            <a:tbl>
              <a:tblPr firstRow="1" bandRow="1">
                <a:tableStyleId>{5C22544A-7EE6-4342-B048-85BDC9FD1C3A}</a:tableStyleId>
              </a:tblPr>
              <a:tblGrid>
                <a:gridCol w="1234440"/>
                <a:gridCol w="5349240"/>
              </a:tblGrid>
              <a:tr h="447040">
                <a:tc>
                  <a:txBody>
                    <a:bodyPr/>
                    <a:lstStyle/>
                    <a:p>
                      <a:r>
                        <a:rPr sz="1200" b="1">
                          <a:solidFill>
                            <a:srgbClr val="FFFFFF"/>
                          </a:solidFill>
                          <a:latin typeface="Calibri"/>
                        </a:rPr>
                        <a:t>Where</a:t>
                      </a:r>
                    </a:p>
                  </a:txBody>
                  <a:tcPr>
                    <a:solidFill>
                      <a:srgbClr val="1428A0"/>
                    </a:solidFill>
                  </a:tcPr>
                </a:tc>
                <a:tc>
                  <a:txBody>
                    <a:bodyPr/>
                    <a:lstStyle/>
                    <a:p>
                      <a:r>
                        <a:rPr sz="1200" b="1">
                          <a:solidFill>
                            <a:srgbClr val="FFFFFF"/>
                          </a:solidFill>
                          <a:latin typeface="Calibri"/>
                        </a:rPr>
                        <a:t>Gap</a:t>
                      </a:r>
                    </a:p>
                  </a:txBody>
                  <a:tcPr>
                    <a:solidFill>
                      <a:srgbClr val="1428A0"/>
                    </a:solidFill>
                  </a:tcPr>
                </a:tc>
              </a:tr>
              <a:tr h="447040">
                <a:tc>
                  <a:txBody>
                    <a:bodyPr/>
                    <a:lstStyle/>
                    <a:p>
                      <a:r>
                        <a:rPr sz="1100" b="1">
                          <a:solidFill>
                            <a:srgbClr val="4B5563"/>
                          </a:solidFill>
                          <a:latin typeface="Calibri"/>
                        </a:rPr>
                        <a:t>Brief</a:t>
                      </a:r>
                    </a:p>
                  </a:txBody>
                  <a:tcPr marT="27432" marB="27432">
                    <a:solidFill>
                      <a:srgbClr val="FFFFFF"/>
                    </a:solidFill>
                  </a:tcPr>
                </a:tc>
                <a:tc>
                  <a:txBody>
                    <a:bodyPr/>
                    <a:lstStyle/>
                    <a:p>
                      <a:r>
                        <a:rPr sz="1100" b="0">
                          <a:solidFill>
                            <a:srgbClr val="111827"/>
                          </a:solidFill>
                          <a:latin typeface="Calibri"/>
                        </a:rPr>
                        <a:t>validationDeeplink is in the schema but nothing says how to fill it, so no one checks the fix worked</a:t>
                      </a:r>
                    </a:p>
                  </a:txBody>
                  <a:tcPr marT="27432" marB="27432">
                    <a:solidFill>
                      <a:srgbClr val="FFFFFF"/>
                    </a:solidFill>
                  </a:tcPr>
                </a:tc>
              </a:tr>
              <a:tr h="447040">
                <a:tc>
                  <a:txBody>
                    <a:bodyPr/>
                    <a:lstStyle/>
                    <a:p>
                      <a:r>
                        <a:rPr sz="1100" b="1">
                          <a:solidFill>
                            <a:srgbClr val="4B5563"/>
                          </a:solidFill>
                          <a:latin typeface="Calibri"/>
                        </a:rPr>
                        <a:t>Brief</a:t>
                      </a:r>
                    </a:p>
                  </a:txBody>
                  <a:tcPr marT="27432" marB="27432">
                    <a:solidFill>
                      <a:srgbClr val="F3F4F6"/>
                    </a:solidFill>
                  </a:tcPr>
                </a:tc>
                <a:tc>
                  <a:txBody>
                    <a:bodyPr/>
                    <a:lstStyle/>
                    <a:p>
                      <a:r>
                        <a:rPr sz="1100" b="0">
                          <a:solidFill>
                            <a:srgbClr val="111827"/>
                          </a:solidFill>
                          <a:latin typeface="Calibri"/>
                        </a:rPr>
                        <a:t>“Return empty if no viable fix” is never defined, and a search always returns something</a:t>
                      </a:r>
                    </a:p>
                  </a:txBody>
                  <a:tcPr marT="27432" marB="27432">
                    <a:solidFill>
                      <a:srgbClr val="F3F4F6"/>
                    </a:solidFill>
                  </a:tcPr>
                </a:tc>
              </a:tr>
              <a:tr h="447040">
                <a:tc>
                  <a:txBody>
                    <a:bodyPr/>
                    <a:lstStyle/>
                    <a:p>
                      <a:r>
                        <a:rPr sz="1100" b="1">
                          <a:solidFill>
                            <a:srgbClr val="4B5563"/>
                          </a:solidFill>
                          <a:latin typeface="Calibri"/>
                        </a:rPr>
                        <a:t>Brief</a:t>
                      </a:r>
                    </a:p>
                  </a:txBody>
                  <a:tcPr marT="27432" marB="27432">
                    <a:solidFill>
                      <a:srgbClr val="FFFFFF"/>
                    </a:solidFill>
                  </a:tcPr>
                </a:tc>
                <a:tc>
                  <a:txBody>
                    <a:bodyPr/>
                    <a:lstStyle/>
                    <a:p>
                      <a:r>
                        <a:rPr sz="1100" b="0">
                          <a:solidFill>
                            <a:srgbClr val="111827"/>
                          </a:solidFill>
                          <a:latin typeface="Calibri"/>
                        </a:rPr>
                        <a:t>Assumes one problem per message. Kit query 17 has three</a:t>
                      </a:r>
                    </a:p>
                  </a:txBody>
                  <a:tcPr marT="27432" marB="27432">
                    <a:solidFill>
                      <a:srgbClr val="FFFFFF"/>
                    </a:solidFill>
                  </a:tcPr>
                </a:tc>
              </a:tr>
              <a:tr h="447040">
                <a:tc>
                  <a:txBody>
                    <a:bodyPr/>
                    <a:lstStyle/>
                    <a:p>
                      <a:r>
                        <a:rPr sz="1100" b="1">
                          <a:solidFill>
                            <a:srgbClr val="4B5563"/>
                          </a:solidFill>
                          <a:latin typeface="Calibri"/>
                        </a:rPr>
                        <a:t>Brief</a:t>
                      </a:r>
                    </a:p>
                  </a:txBody>
                  <a:tcPr marT="27432" marB="27432">
                    <a:solidFill>
                      <a:srgbClr val="F3F4F6"/>
                    </a:solidFill>
                  </a:tcPr>
                </a:tc>
                <a:tc>
                  <a:txBody>
                    <a:bodyPr/>
                    <a:lstStyle/>
                    <a:p>
                      <a:r>
                        <a:rPr sz="1100" b="0">
                          <a:solidFill>
                            <a:srgbClr val="111827"/>
                          </a:solidFill>
                          <a:latin typeface="Calibri"/>
                        </a:rPr>
                        <a:t>A wrong plan in the cache gets served to every paraphrase</a:t>
                      </a:r>
                    </a:p>
                  </a:txBody>
                  <a:tcPr marT="27432" marB="27432">
                    <a:solidFill>
                      <a:srgbClr val="F3F4F6"/>
                    </a:solidFill>
                  </a:tcPr>
                </a:tc>
              </a:tr>
              <a:tr h="447040">
                <a:tc>
                  <a:txBody>
                    <a:bodyPr/>
                    <a:lstStyle/>
                    <a:p>
                      <a:r>
                        <a:rPr sz="1100" b="1">
                          <a:solidFill>
                            <a:srgbClr val="4B5563"/>
                          </a:solidFill>
                          <a:latin typeface="Calibri"/>
                        </a:rPr>
                        <a:t>Brief</a:t>
                      </a:r>
                    </a:p>
                  </a:txBody>
                  <a:tcPr marT="27432" marB="27432">
                    <a:solidFill>
                      <a:srgbClr val="FFFFFF"/>
                    </a:solidFill>
                  </a:tcPr>
                </a:tc>
                <a:tc>
                  <a:txBody>
                    <a:bodyPr/>
                    <a:lstStyle/>
                    <a:p>
                      <a:r>
                        <a:rPr sz="1100" b="0">
                          <a:solidFill>
                            <a:srgbClr val="111827"/>
                          </a:solidFill>
                          <a:latin typeface="Calibri"/>
                        </a:rPr>
                        <a:t>Factory reset is only “ordered last”. No backup first, no gate</a:t>
                      </a:r>
                    </a:p>
                  </a:txBody>
                  <a:tcPr marT="27432" marB="27432">
                    <a:solidFill>
                      <a:srgbClr val="FFFFFF"/>
                    </a:solidFill>
                  </a:tcPr>
                </a:tc>
              </a:tr>
              <a:tr h="447040">
                <a:tc>
                  <a:txBody>
                    <a:bodyPr/>
                    <a:lstStyle/>
                    <a:p>
                      <a:r>
                        <a:rPr sz="1100" b="1">
                          <a:solidFill>
                            <a:srgbClr val="4B5563"/>
                          </a:solidFill>
                          <a:latin typeface="Calibri"/>
                        </a:rPr>
                        <a:t>Starter code</a:t>
                      </a:r>
                    </a:p>
                  </a:txBody>
                  <a:tcPr marT="27432" marB="27432">
                    <a:solidFill>
                      <a:srgbClr val="F3F4F6"/>
                    </a:solidFill>
                  </a:tcPr>
                </a:tc>
                <a:tc>
                  <a:txBody>
                    <a:bodyPr/>
                    <a:lstStyle/>
                    <a:p>
                      <a:r>
                        <a:rPr sz="1100" b="0">
                          <a:solidFill>
                            <a:srgbClr val="111827"/>
                          </a:solidFill>
                          <a:latin typeface="Calibri"/>
                        </a:rPr>
                        <a:t>Titles cut to 3 words: “Some things to”, “Blank or black”</a:t>
                      </a:r>
                    </a:p>
                  </a:txBody>
                  <a:tcPr marT="27432" marB="27432">
                    <a:solidFill>
                      <a:srgbClr val="F3F4F6"/>
                    </a:solidFill>
                  </a:tcPr>
                </a:tc>
              </a:tr>
              <a:tr h="447040">
                <a:tc>
                  <a:txBody>
                    <a:bodyPr/>
                    <a:lstStyle/>
                    <a:p>
                      <a:r>
                        <a:rPr sz="1100" b="1">
                          <a:solidFill>
                            <a:srgbClr val="4B5563"/>
                          </a:solidFill>
                          <a:latin typeface="Calibri"/>
                        </a:rPr>
                        <a:t>Starter code</a:t>
                      </a:r>
                    </a:p>
                  </a:txBody>
                  <a:tcPr marT="27432" marB="27432">
                    <a:solidFill>
                      <a:srgbClr val="FFFFFF"/>
                    </a:solidFill>
                  </a:tcPr>
                </a:tc>
                <a:tc>
                  <a:txBody>
                    <a:bodyPr/>
                    <a:lstStyle/>
                    <a:p>
                      <a:r>
                        <a:rPr sz="1100" b="0">
                          <a:solidFill>
                            <a:srgbClr val="111827"/>
                          </a:solidFill>
                          <a:latin typeface="Calibri"/>
                        </a:rPr>
                        <a:t>Factory reset marked auto, “Charge the device” linked to Connected devices</a:t>
                      </a:r>
                    </a:p>
                  </a:txBody>
                  <a:tcPr marT="27432" marB="27432">
                    <a:solidFill>
                      <a:srgbClr val="FFFFFF"/>
                    </a:solidFill>
                  </a:tcPr>
                </a:tc>
              </a:tr>
              <a:tr h="447040">
                <a:tc>
                  <a:txBody>
                    <a:bodyPr/>
                    <a:lstStyle/>
                    <a:p>
                      <a:r>
                        <a:rPr sz="1100" b="1">
                          <a:solidFill>
                            <a:srgbClr val="4B5563"/>
                          </a:solidFill>
                          <a:latin typeface="Calibri"/>
                        </a:rPr>
                        <a:t>Starter code</a:t>
                      </a:r>
                    </a:p>
                  </a:txBody>
                  <a:tcPr marT="27432" marB="27432">
                    <a:solidFill>
                      <a:srgbClr val="F3F4F6"/>
                    </a:solidFill>
                  </a:tcPr>
                </a:tc>
                <a:tc>
                  <a:txBody>
                    <a:bodyPr/>
                    <a:lstStyle/>
                    <a:p>
                      <a:r>
                        <a:rPr sz="1100" b="0">
                          <a:solidFill>
                            <a:srgbClr val="111827"/>
                          </a:solidFill>
                          <a:latin typeface="Calibri"/>
                        </a:rPr>
                        <a:t>Rule compliance 5%, 0% cache hits on real paraphrases</a:t>
                      </a:r>
                    </a:p>
                  </a:txBody>
                  <a:tcPr marT="27432" marB="27432">
                    <a:solidFill>
                      <a:srgbClr val="F3F4F6"/>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Solutions &amp; Architecture Diagram</a:t>
            </a:r>
            <a:endParaRPr/>
          </a:p>
        </p:txBody>
      </p:sp>
      <p:pic>
        <p:nvPicPr>
          <p:cNvPr id="114" name="Picture 113" descr="architecture.png"/>
          <p:cNvPicPr>
            <a:picLocks noChangeAspect="1"/>
          </p:cNvPicPr>
          <p:nvPr/>
        </p:nvPicPr>
        <p:blipFill>
          <a:blip r:embed="rId3"/>
          <a:stretch>
            <a:fillRect/>
          </a:stretch>
        </p:blipFill>
        <p:spPr>
          <a:xfrm>
            <a:off x="1216152" y="1600200"/>
            <a:ext cx="9756648" cy="4695387"/>
          </a:xfrm>
          <a:prstGeom prst="rect">
            <a:avLst/>
          </a:prstGeom>
        </p:spPr>
      </p:pic>
      <p:sp>
        <p:nvSpPr>
          <p:cNvPr id="115" name="TextBox 114"/>
          <p:cNvSpPr txBox="1"/>
          <p:nvPr/>
        </p:nvSpPr>
        <p:spPr>
          <a:xfrm>
            <a:off x="841248" y="6355080"/>
            <a:ext cx="10515600" cy="365760"/>
          </a:xfrm>
          <a:prstGeom prst="rect">
            <a:avLst/>
          </a:prstGeom>
          <a:noFill/>
        </p:spPr>
        <p:txBody>
          <a:bodyPr wrap="square" anchor="t" lIns="0" rIns="0" tIns="18288" bIns="18288">
            <a:spAutoFit/>
          </a:bodyPr>
          <a:lstStyle/>
          <a:p>
            <a:pPr algn="l">
              <a:spcAft>
                <a:spcPts val="400"/>
              </a:spcAft>
            </a:pPr>
            <a:r>
              <a:rPr sz="1200" b="0">
                <a:solidFill>
                  <a:srgbClr val="4B5563"/>
                </a:solidFill>
                <a:latin typeface="Calibri"/>
              </a:rPr>
              <a:t>Stages 0-4 follow the brief. The cache sits in front, so stages 1-2 only run on a miss. The closed loop at the bottom is the part we added.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pic>
        <p:nvPicPr>
          <p:cNvPr id="120" name="Picture 119" descr="demo_plan.png"/>
          <p:cNvPicPr>
            <a:picLocks noChangeAspect="1"/>
          </p:cNvPicPr>
          <p:nvPr/>
        </p:nvPicPr>
        <p:blipFill>
          <a:blip r:embed="rId3"/>
          <a:stretch>
            <a:fillRect/>
          </a:stretch>
        </p:blipFill>
        <p:spPr>
          <a:xfrm>
            <a:off x="841248" y="1600200"/>
            <a:ext cx="6720840" cy="4200525"/>
          </a:xfrm>
          <a:prstGeom prst="rect">
            <a:avLst/>
          </a:prstGeom>
          <a:ln w="12700">
            <a:solidFill>
              <a:srgbClr val="D1D5DB"/>
            </a:solidFill>
          </a:ln>
        </p:spPr>
      </p:pic>
      <p:pic>
        <p:nvPicPr>
          <p:cNvPr id="121" name="Picture 120" descr="demo_trace.png"/>
          <p:cNvPicPr>
            <a:picLocks noChangeAspect="1"/>
          </p:cNvPicPr>
          <p:nvPr/>
        </p:nvPicPr>
        <p:blipFill>
          <a:blip r:embed="rId4"/>
          <a:stretch>
            <a:fillRect/>
          </a:stretch>
        </p:blipFill>
        <p:spPr>
          <a:xfrm>
            <a:off x="7818120" y="1600200"/>
            <a:ext cx="3566160" cy="2228850"/>
          </a:xfrm>
          <a:prstGeom prst="rect">
            <a:avLst/>
          </a:prstGeom>
          <a:ln w="12700">
            <a:solidFill>
              <a:srgbClr val="D1D5DB"/>
            </a:solidFill>
          </a:ln>
        </p:spPr>
      </p:pic>
      <p:sp>
        <p:nvSpPr>
          <p:cNvPr id="122" name="TextBox 121"/>
          <p:cNvSpPr txBox="1"/>
          <p:nvPr/>
        </p:nvSpPr>
        <p:spPr>
          <a:xfrm>
            <a:off x="7818120" y="3931920"/>
            <a:ext cx="3566160" cy="320040"/>
          </a:xfrm>
          <a:prstGeom prst="rect">
            <a:avLst/>
          </a:prstGeom>
          <a:noFill/>
        </p:spPr>
        <p:txBody>
          <a:bodyPr wrap="square" anchor="t" lIns="0" rIns="0" tIns="18288" bIns="18288">
            <a:spAutoFit/>
          </a:bodyPr>
          <a:lstStyle/>
          <a:p>
            <a:pPr algn="l">
              <a:spcAft>
                <a:spcPts val="400"/>
              </a:spcAft>
            </a:pPr>
            <a:r>
              <a:rPr sz="1100" b="0">
                <a:solidFill>
                  <a:srgbClr val="4B5563"/>
                </a:solidFill>
                <a:latin typeface="Calibri"/>
              </a:rPr>
              <a:t>Trace tab: hover a step, the source sentence lights up</a:t>
            </a:r>
          </a:p>
        </p:txBody>
      </p:sp>
      <p:sp>
        <p:nvSpPr>
          <p:cNvPr id="123" name="Oval 122"/>
          <p:cNvSpPr/>
          <p:nvPr/>
        </p:nvSpPr>
        <p:spPr>
          <a:xfrm>
            <a:off x="7818120" y="43891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1</a:t>
            </a:r>
          </a:p>
        </p:txBody>
      </p:sp>
      <p:sp>
        <p:nvSpPr>
          <p:cNvPr id="124" name="TextBox 123"/>
          <p:cNvSpPr txBox="1"/>
          <p:nvPr/>
        </p:nvSpPr>
        <p:spPr>
          <a:xfrm>
            <a:off x="8275320" y="4370832"/>
            <a:ext cx="3108960" cy="457200"/>
          </a:xfrm>
          <a:prstGeom prst="rect">
            <a:avLst/>
          </a:prstGeom>
          <a:noFill/>
        </p:spPr>
        <p:txBody>
          <a:bodyPr wrap="square" anchor="ctr" lIns="0" rIns="0" tIns="18288" bIns="18288">
            <a:spAutoFit/>
          </a:bodyPr>
          <a:lstStyle/>
          <a:p>
            <a:pPr algn="l">
              <a:spcAft>
                <a:spcPts val="400"/>
              </a:spcAft>
            </a:pPr>
            <a:r>
              <a:rPr sz="1200" b="0">
                <a:solidFill>
                  <a:srgbClr val="111827"/>
                </a:solidFill>
                <a:latin typeface="Calibri"/>
              </a:rPr>
              <a:t>Pick a kit complaint (or type one)</a:t>
            </a:r>
          </a:p>
        </p:txBody>
      </p:sp>
      <p:sp>
        <p:nvSpPr>
          <p:cNvPr id="125" name="Oval 124"/>
          <p:cNvSpPr/>
          <p:nvPr/>
        </p:nvSpPr>
        <p:spPr>
          <a:xfrm>
            <a:off x="7818120" y="4864608"/>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2</a:t>
            </a:r>
          </a:p>
        </p:txBody>
      </p:sp>
      <p:sp>
        <p:nvSpPr>
          <p:cNvPr id="126" name="TextBox 125"/>
          <p:cNvSpPr txBox="1"/>
          <p:nvPr/>
        </p:nvSpPr>
        <p:spPr>
          <a:xfrm>
            <a:off x="8275320" y="4846320"/>
            <a:ext cx="3108960" cy="457200"/>
          </a:xfrm>
          <a:prstGeom prst="rect">
            <a:avLst/>
          </a:prstGeom>
          <a:noFill/>
        </p:spPr>
        <p:txBody>
          <a:bodyPr wrap="square" anchor="ctr" lIns="0" rIns="0" tIns="18288" bIns="18288">
            <a:spAutoFit/>
          </a:bodyPr>
          <a:lstStyle/>
          <a:p>
            <a:pPr algn="l">
              <a:spcAft>
                <a:spcPts val="400"/>
              </a:spcAft>
            </a:pPr>
            <a:r>
              <a:rPr sz="1200" b="0">
                <a:solidFill>
                  <a:srgbClr val="111827"/>
                </a:solidFill>
                <a:latin typeface="Calibri"/>
              </a:rPr>
              <a:t>Plan comes back in tiers: phone, by hand, last resort</a:t>
            </a:r>
          </a:p>
        </p:txBody>
      </p:sp>
      <p:sp>
        <p:nvSpPr>
          <p:cNvPr id="127" name="Oval 126"/>
          <p:cNvSpPr/>
          <p:nvPr/>
        </p:nvSpPr>
        <p:spPr>
          <a:xfrm>
            <a:off x="7818120" y="5340096"/>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3</a:t>
            </a:r>
          </a:p>
        </p:txBody>
      </p:sp>
      <p:sp>
        <p:nvSpPr>
          <p:cNvPr id="128" name="TextBox 127"/>
          <p:cNvSpPr txBox="1"/>
          <p:nvPr/>
        </p:nvSpPr>
        <p:spPr>
          <a:xfrm>
            <a:off x="8275320" y="5321808"/>
            <a:ext cx="3108960" cy="457200"/>
          </a:xfrm>
          <a:prstGeom prst="rect">
            <a:avLst/>
          </a:prstGeom>
          <a:noFill/>
        </p:spPr>
        <p:txBody>
          <a:bodyPr wrap="square" anchor="ctr" lIns="0" rIns="0" tIns="18288" bIns="18288">
            <a:spAutoFit/>
          </a:bodyPr>
          <a:lstStyle/>
          <a:p>
            <a:pPr algn="l">
              <a:spcAft>
                <a:spcPts val="400"/>
              </a:spcAft>
            </a:pPr>
            <a:r>
              <a:rPr sz="1200" b="0">
                <a:solidFill>
                  <a:srgbClr val="111827"/>
                </a:solidFill>
                <a:latin typeface="Calibri"/>
              </a:rPr>
              <a:t>Run safe steps: the phone opens each screen and reads the setting back</a:t>
            </a:r>
          </a:p>
        </p:txBody>
      </p:sp>
      <p:sp>
        <p:nvSpPr>
          <p:cNvPr id="129" name="Oval 128"/>
          <p:cNvSpPr/>
          <p:nvPr/>
        </p:nvSpPr>
        <p:spPr>
          <a:xfrm>
            <a:off x="7818120" y="5815583"/>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4</a:t>
            </a:r>
          </a:p>
        </p:txBody>
      </p:sp>
      <p:sp>
        <p:nvSpPr>
          <p:cNvPr id="130" name="TextBox 129"/>
          <p:cNvSpPr txBox="1"/>
          <p:nvPr/>
        </p:nvSpPr>
        <p:spPr>
          <a:xfrm>
            <a:off x="8275320" y="5797296"/>
            <a:ext cx="3108960" cy="457200"/>
          </a:xfrm>
          <a:prstGeom prst="rect">
            <a:avLst/>
          </a:prstGeom>
          <a:noFill/>
        </p:spPr>
        <p:txBody>
          <a:bodyPr wrap="square" anchor="ctr" lIns="0" rIns="0" tIns="18288" bIns="18288">
            <a:spAutoFit/>
          </a:bodyPr>
          <a:lstStyle/>
          <a:p>
            <a:pPr algn="l">
              <a:spcAft>
                <a:spcPts val="400"/>
              </a:spcAft>
            </a:pPr>
            <a:r>
              <a:rPr sz="1200" b="0">
                <a:solidFill>
                  <a:srgbClr val="111827"/>
                </a:solidFill>
                <a:latin typeface="Calibri"/>
              </a:rPr>
              <a:t>Trace and JSON tabs show where every step came from</a:t>
            </a:r>
          </a:p>
        </p:txBody>
      </p:sp>
      <p:sp>
        <p:nvSpPr>
          <p:cNvPr id="131" name="TextBox 130"/>
          <p:cNvSpPr txBox="1"/>
          <p:nvPr/>
        </p:nvSpPr>
        <p:spPr>
          <a:xfrm>
            <a:off x="841248" y="5897880"/>
            <a:ext cx="6720840" cy="457200"/>
          </a:xfrm>
          <a:prstGeom prst="rect">
            <a:avLst/>
          </a:prstGeom>
          <a:noFill/>
        </p:spPr>
        <p:txBody>
          <a:bodyPr wrap="square" anchor="t" lIns="0" rIns="0" tIns="18288" bIns="18288">
            <a:spAutoFit/>
          </a:bodyPr>
          <a:lstStyle/>
          <a:p>
            <a:pPr algn="l">
              <a:spcAft>
                <a:spcPts val="400"/>
              </a:spcAft>
            </a:pPr>
            <a:r>
              <a:rPr sz="1100" b="0">
                <a:solidFill>
                  <a:srgbClr val="4B5563"/>
                </a:solidFill>
                <a:latin typeface="Calibri"/>
              </a:rPr>
              <a:t>Touchscreen complaint with its SIIS article: cold run, 7/8 toggles confirmed across the kit. Pages: Troubleshoot, Batch run, Metrics, Gaps.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and tech stack used</a:t>
            </a:r>
            <a:endParaRPr b="1">
              <a:solidFill>
                <a:srgbClr val="704EA6"/>
              </a:solidFill>
            </a:endParaRPr>
          </a:p>
        </p:txBody>
      </p:sp>
      <p:sp>
        <p:nvSpPr>
          <p:cNvPr id="126" name="Rounded Rectangle 125"/>
          <p:cNvSpPr/>
          <p:nvPr/>
        </p:nvSpPr>
        <p:spPr>
          <a:xfrm>
            <a:off x="841248" y="1783080"/>
            <a:ext cx="1993392" cy="30175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005840" y="1920240"/>
            <a:ext cx="1719072" cy="411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Engine</a:t>
            </a:r>
          </a:p>
        </p:txBody>
      </p:sp>
      <p:sp>
        <p:nvSpPr>
          <p:cNvPr id="128" name="TextBox 127"/>
          <p:cNvSpPr txBox="1"/>
          <p:nvPr/>
        </p:nvSpPr>
        <p:spPr>
          <a:xfrm>
            <a:off x="1005840" y="2423160"/>
            <a:ext cx="1719072" cy="1371600"/>
          </a:xfrm>
          <a:prstGeom prst="rect">
            <a:avLst/>
          </a:prstGeom>
          <a:noFill/>
        </p:spPr>
        <p:txBody>
          <a:bodyPr wrap="square" anchor="t" lIns="0" rIns="0" tIns="18288" bIns="18288">
            <a:spAutoFit/>
          </a:bodyPr>
          <a:lstStyle/>
          <a:p>
            <a:pPr algn="l">
              <a:spcAft>
                <a:spcPts val="400"/>
              </a:spcAft>
            </a:pPr>
            <a:r>
              <a:rPr sz="1400" b="0">
                <a:solidFill>
                  <a:srgbClr val="111827"/>
                </a:solidFill>
                <a:latin typeface="Calibri"/>
              </a:rPr>
              <a:t>Python 3.13</a:t>
            </a:r>
          </a:p>
          <a:p>
            <a:pPr algn="l">
              <a:spcAft>
                <a:spcPts val="400"/>
              </a:spcAft>
            </a:pPr>
            <a:r>
              <a:rPr sz="1400" b="0">
                <a:solidFill>
                  <a:srgbClr val="111827"/>
                </a:solidFill>
                <a:latin typeface="Calibri"/>
              </a:rPr>
              <a:t>FastAPI + Uvicorn</a:t>
            </a:r>
          </a:p>
          <a:p>
            <a:pPr algn="l">
              <a:spcAft>
                <a:spcPts val="400"/>
              </a:spcAft>
            </a:pPr>
            <a:r>
              <a:rPr sz="1400" b="0">
                <a:solidFill>
                  <a:srgbClr val="111827"/>
                </a:solidFill>
                <a:latin typeface="Calibri"/>
              </a:rPr>
              <a:t>Pydantic (kit schema.py)</a:t>
            </a:r>
          </a:p>
        </p:txBody>
      </p:sp>
      <p:sp>
        <p:nvSpPr>
          <p:cNvPr id="129" name="TextBox 128"/>
          <p:cNvSpPr txBox="1"/>
          <p:nvPr/>
        </p:nvSpPr>
        <p:spPr>
          <a:xfrm>
            <a:off x="1005840" y="3840480"/>
            <a:ext cx="1719072" cy="868680"/>
          </a:xfrm>
          <a:prstGeom prst="rect">
            <a:avLst/>
          </a:prstGeom>
          <a:noFill/>
        </p:spPr>
        <p:txBody>
          <a:bodyPr wrap="square" anchor="t" lIns="0" rIns="0" tIns="18288" bIns="18288">
            <a:spAutoFit/>
          </a:bodyPr>
          <a:lstStyle/>
          <a:p>
            <a:pPr algn="l">
              <a:spcAft>
                <a:spcPts val="400"/>
              </a:spcAft>
            </a:pPr>
            <a:r>
              <a:rPr sz="1100" b="1">
                <a:solidFill>
                  <a:srgbClr val="4B5563"/>
                </a:solidFill>
                <a:latin typeface="Calibri"/>
              </a:rPr>
              <a:t>used for</a:t>
            </a:r>
          </a:p>
          <a:p>
            <a:pPr algn="l">
              <a:spcAft>
                <a:spcPts val="400"/>
              </a:spcAft>
            </a:pPr>
            <a:r>
              <a:rPr sz="1200" b="0">
                <a:solidFill>
                  <a:srgbClr val="4B5563"/>
                </a:solidFill>
                <a:latin typeface="Calibri"/>
              </a:rPr>
              <a:t>REST API, validators, simulator</a:t>
            </a:r>
          </a:p>
        </p:txBody>
      </p:sp>
      <p:sp>
        <p:nvSpPr>
          <p:cNvPr id="130" name="Rounded Rectangle 129"/>
          <p:cNvSpPr/>
          <p:nvPr/>
        </p:nvSpPr>
        <p:spPr>
          <a:xfrm>
            <a:off x="2971800" y="1783080"/>
            <a:ext cx="1993392" cy="30175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3136392" y="1920240"/>
            <a:ext cx="1719072" cy="411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Retrieval</a:t>
            </a:r>
          </a:p>
        </p:txBody>
      </p:sp>
      <p:sp>
        <p:nvSpPr>
          <p:cNvPr id="132" name="TextBox 131"/>
          <p:cNvSpPr txBox="1"/>
          <p:nvPr/>
        </p:nvSpPr>
        <p:spPr>
          <a:xfrm>
            <a:off x="3136392" y="2423160"/>
            <a:ext cx="1719072" cy="1371600"/>
          </a:xfrm>
          <a:prstGeom prst="rect">
            <a:avLst/>
          </a:prstGeom>
          <a:noFill/>
        </p:spPr>
        <p:txBody>
          <a:bodyPr wrap="square" anchor="t" lIns="0" rIns="0" tIns="18288" bIns="18288">
            <a:spAutoFit/>
          </a:bodyPr>
          <a:lstStyle/>
          <a:p>
            <a:pPr algn="l">
              <a:spcAft>
                <a:spcPts val="400"/>
              </a:spcAft>
            </a:pPr>
            <a:r>
              <a:rPr sz="1400" b="0">
                <a:solidFill>
                  <a:srgbClr val="111827"/>
                </a:solidFill>
                <a:latin typeface="Calibri"/>
              </a:rPr>
              <a:t>scikit-learn TF-IDF</a:t>
            </a:r>
          </a:p>
          <a:p>
            <a:pPr algn="l">
              <a:spcAft>
                <a:spcPts val="400"/>
              </a:spcAft>
            </a:pPr>
            <a:r>
              <a:rPr sz="1400" b="0">
                <a:solidFill>
                  <a:srgbClr val="111827"/>
                </a:solidFill>
                <a:latin typeface="Calibri"/>
              </a:rPr>
              <a:t>word + char n-grams</a:t>
            </a:r>
          </a:p>
          <a:p>
            <a:pPr algn="l">
              <a:spcAft>
                <a:spcPts val="400"/>
              </a:spcAft>
            </a:pPr>
            <a:r>
              <a:rPr sz="1400" b="0">
                <a:solidFill>
                  <a:srgbClr val="111827"/>
                </a:solidFill>
                <a:latin typeface="Calibri"/>
              </a:rPr>
              <a:t>NumPy / SciPy</a:t>
            </a:r>
          </a:p>
        </p:txBody>
      </p:sp>
      <p:sp>
        <p:nvSpPr>
          <p:cNvPr id="133" name="TextBox 132"/>
          <p:cNvSpPr txBox="1"/>
          <p:nvPr/>
        </p:nvSpPr>
        <p:spPr>
          <a:xfrm>
            <a:off x="3136392" y="3840480"/>
            <a:ext cx="1719072" cy="868680"/>
          </a:xfrm>
          <a:prstGeom prst="rect">
            <a:avLst/>
          </a:prstGeom>
          <a:noFill/>
        </p:spPr>
        <p:txBody>
          <a:bodyPr wrap="square" anchor="t" lIns="0" rIns="0" tIns="18288" bIns="18288">
            <a:spAutoFit/>
          </a:bodyPr>
          <a:lstStyle/>
          <a:p>
            <a:pPr algn="l">
              <a:spcAft>
                <a:spcPts val="400"/>
              </a:spcAft>
            </a:pPr>
            <a:r>
              <a:rPr sz="1100" b="1">
                <a:solidFill>
                  <a:srgbClr val="4B5563"/>
                </a:solidFill>
                <a:latin typeface="Calibri"/>
              </a:rPr>
              <a:t>used for</a:t>
            </a:r>
          </a:p>
          <a:p>
            <a:pPr algn="l">
              <a:spcAft>
                <a:spcPts val="400"/>
              </a:spcAft>
            </a:pPr>
            <a:r>
              <a:rPr sz="1200" b="0">
                <a:solidFill>
                  <a:srgbClr val="4B5563"/>
                </a:solidFill>
                <a:latin typeface="Calibri"/>
              </a:rPr>
              <a:t>SIIS lookup, deeplink map, cache</a:t>
            </a:r>
          </a:p>
        </p:txBody>
      </p:sp>
      <p:sp>
        <p:nvSpPr>
          <p:cNvPr id="134" name="Rounded Rectangle 133"/>
          <p:cNvSpPr/>
          <p:nvPr/>
        </p:nvSpPr>
        <p:spPr>
          <a:xfrm>
            <a:off x="5102352" y="1783080"/>
            <a:ext cx="1993392" cy="30175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266944" y="1920240"/>
            <a:ext cx="1719072" cy="411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LLM (optional)</a:t>
            </a:r>
          </a:p>
        </p:txBody>
      </p:sp>
      <p:sp>
        <p:nvSpPr>
          <p:cNvPr id="136" name="TextBox 135"/>
          <p:cNvSpPr txBox="1"/>
          <p:nvPr/>
        </p:nvSpPr>
        <p:spPr>
          <a:xfrm>
            <a:off x="5266944" y="2423160"/>
            <a:ext cx="1719072" cy="1371600"/>
          </a:xfrm>
          <a:prstGeom prst="rect">
            <a:avLst/>
          </a:prstGeom>
          <a:noFill/>
        </p:spPr>
        <p:txBody>
          <a:bodyPr wrap="square" anchor="t" lIns="0" rIns="0" tIns="18288" bIns="18288">
            <a:spAutoFit/>
          </a:bodyPr>
          <a:lstStyle/>
          <a:p>
            <a:pPr algn="l">
              <a:spcAft>
                <a:spcPts val="400"/>
              </a:spcAft>
            </a:pPr>
            <a:r>
              <a:rPr sz="1400" b="0">
                <a:solidFill>
                  <a:srgbClr val="111827"/>
                </a:solidFill>
                <a:latin typeface="Calibri"/>
              </a:rPr>
              <a:t>Groq Cloud</a:t>
            </a:r>
          </a:p>
          <a:p>
            <a:pPr algn="l">
              <a:spcAft>
                <a:spcPts val="400"/>
              </a:spcAft>
            </a:pPr>
            <a:r>
              <a:rPr sz="1400" b="0">
                <a:solidFill>
                  <a:srgbClr val="111827"/>
                </a:solidFill>
                <a:latin typeface="Calibri"/>
              </a:rPr>
              <a:t>llama-3.3-70b-versatile</a:t>
            </a:r>
          </a:p>
          <a:p>
            <a:pPr algn="l">
              <a:spcAft>
                <a:spcPts val="400"/>
              </a:spcAft>
            </a:pPr>
            <a:r>
              <a:rPr sz="1400" b="0">
                <a:solidFill>
                  <a:srgbClr val="111827"/>
                </a:solidFill>
                <a:latin typeface="Calibri"/>
              </a:rPr>
              <a:t>OpenAI-compatible client</a:t>
            </a:r>
          </a:p>
        </p:txBody>
      </p:sp>
      <p:sp>
        <p:nvSpPr>
          <p:cNvPr id="137" name="TextBox 136"/>
          <p:cNvSpPr txBox="1"/>
          <p:nvPr/>
        </p:nvSpPr>
        <p:spPr>
          <a:xfrm>
            <a:off x="5266944" y="3840480"/>
            <a:ext cx="1719072" cy="868680"/>
          </a:xfrm>
          <a:prstGeom prst="rect">
            <a:avLst/>
          </a:prstGeom>
          <a:noFill/>
        </p:spPr>
        <p:txBody>
          <a:bodyPr wrap="square" anchor="t" lIns="0" rIns="0" tIns="18288" bIns="18288">
            <a:spAutoFit/>
          </a:bodyPr>
          <a:lstStyle/>
          <a:p>
            <a:pPr algn="l">
              <a:spcAft>
                <a:spcPts val="400"/>
              </a:spcAft>
            </a:pPr>
            <a:r>
              <a:rPr sz="1100" b="1">
                <a:solidFill>
                  <a:srgbClr val="4B5563"/>
                </a:solidFill>
                <a:latin typeface="Calibri"/>
              </a:rPr>
              <a:t>used for</a:t>
            </a:r>
          </a:p>
          <a:p>
            <a:pPr algn="l">
              <a:spcAft>
                <a:spcPts val="400"/>
              </a:spcAft>
            </a:pPr>
            <a:r>
              <a:rPr sz="1200" b="0">
                <a:solidFill>
                  <a:srgbClr val="4B5563"/>
                </a:solidFill>
                <a:latin typeface="Calibri"/>
              </a:rPr>
              <a:t>drafts get re-checked, falls back offline</a:t>
            </a:r>
          </a:p>
        </p:txBody>
      </p:sp>
      <p:sp>
        <p:nvSpPr>
          <p:cNvPr id="138" name="Rounded Rectangle 137"/>
          <p:cNvSpPr/>
          <p:nvPr/>
        </p:nvSpPr>
        <p:spPr>
          <a:xfrm>
            <a:off x="7232904" y="1783080"/>
            <a:ext cx="1993392" cy="30175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397496" y="1920240"/>
            <a:ext cx="1719072" cy="411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Console</a:t>
            </a:r>
          </a:p>
        </p:txBody>
      </p:sp>
      <p:sp>
        <p:nvSpPr>
          <p:cNvPr id="140" name="TextBox 139"/>
          <p:cNvSpPr txBox="1"/>
          <p:nvPr/>
        </p:nvSpPr>
        <p:spPr>
          <a:xfrm>
            <a:off x="7397496" y="2423160"/>
            <a:ext cx="1719072" cy="1371600"/>
          </a:xfrm>
          <a:prstGeom prst="rect">
            <a:avLst/>
          </a:prstGeom>
          <a:noFill/>
        </p:spPr>
        <p:txBody>
          <a:bodyPr wrap="square" anchor="t" lIns="0" rIns="0" tIns="18288" bIns="18288">
            <a:spAutoFit/>
          </a:bodyPr>
          <a:lstStyle/>
          <a:p>
            <a:pPr algn="l">
              <a:spcAft>
                <a:spcPts val="400"/>
              </a:spcAft>
            </a:pPr>
            <a:r>
              <a:rPr sz="1400" b="0">
                <a:solidFill>
                  <a:srgbClr val="111827"/>
                </a:solidFill>
                <a:latin typeface="Calibri"/>
              </a:rPr>
              <a:t>Next.js 16 + React 19</a:t>
            </a:r>
          </a:p>
          <a:p>
            <a:pPr algn="l">
              <a:spcAft>
                <a:spcPts val="400"/>
              </a:spcAft>
            </a:pPr>
            <a:r>
              <a:rPr sz="1400" b="0">
                <a:solidFill>
                  <a:srgbClr val="111827"/>
                </a:solidFill>
                <a:latin typeface="Calibri"/>
              </a:rPr>
              <a:t>Tailwind 4 + shadcn</a:t>
            </a:r>
          </a:p>
          <a:p>
            <a:pPr algn="l">
              <a:spcAft>
                <a:spcPts val="400"/>
              </a:spcAft>
            </a:pPr>
            <a:r>
              <a:rPr sz="1400" b="0">
                <a:solidFill>
                  <a:srgbClr val="111827"/>
                </a:solidFill>
                <a:latin typeface="Calibri"/>
              </a:rPr>
              <a:t>lucide icons</a:t>
            </a:r>
          </a:p>
        </p:txBody>
      </p:sp>
      <p:sp>
        <p:nvSpPr>
          <p:cNvPr id="141" name="TextBox 140"/>
          <p:cNvSpPr txBox="1"/>
          <p:nvPr/>
        </p:nvSpPr>
        <p:spPr>
          <a:xfrm>
            <a:off x="7397496" y="3840480"/>
            <a:ext cx="1719072" cy="868680"/>
          </a:xfrm>
          <a:prstGeom prst="rect">
            <a:avLst/>
          </a:prstGeom>
          <a:noFill/>
        </p:spPr>
        <p:txBody>
          <a:bodyPr wrap="square" anchor="t" lIns="0" rIns="0" tIns="18288" bIns="18288">
            <a:spAutoFit/>
          </a:bodyPr>
          <a:lstStyle/>
          <a:p>
            <a:pPr algn="l">
              <a:spcAft>
                <a:spcPts val="400"/>
              </a:spcAft>
            </a:pPr>
            <a:r>
              <a:rPr sz="1100" b="1">
                <a:solidFill>
                  <a:srgbClr val="4B5563"/>
                </a:solidFill>
                <a:latin typeface="Calibri"/>
              </a:rPr>
              <a:t>used for</a:t>
            </a:r>
          </a:p>
          <a:p>
            <a:pPr algn="l">
              <a:spcAft>
                <a:spcPts val="400"/>
              </a:spcAft>
            </a:pPr>
            <a:r>
              <a:rPr sz="1200" b="0">
                <a:solidFill>
                  <a:srgbClr val="4B5563"/>
                </a:solidFill>
                <a:latin typeface="Calibri"/>
              </a:rPr>
              <a:t>plan, trace, phone simulator</a:t>
            </a:r>
          </a:p>
        </p:txBody>
      </p:sp>
      <p:sp>
        <p:nvSpPr>
          <p:cNvPr id="142" name="Rounded Rectangle 141"/>
          <p:cNvSpPr/>
          <p:nvPr/>
        </p:nvSpPr>
        <p:spPr>
          <a:xfrm>
            <a:off x="9363456" y="1783080"/>
            <a:ext cx="1993392" cy="30175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528048" y="1920240"/>
            <a:ext cx="1719072" cy="411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Testing</a:t>
            </a:r>
          </a:p>
        </p:txBody>
      </p:sp>
      <p:sp>
        <p:nvSpPr>
          <p:cNvPr id="144" name="TextBox 143"/>
          <p:cNvSpPr txBox="1"/>
          <p:nvPr/>
        </p:nvSpPr>
        <p:spPr>
          <a:xfrm>
            <a:off x="9528048" y="2423160"/>
            <a:ext cx="1719072" cy="1371600"/>
          </a:xfrm>
          <a:prstGeom prst="rect">
            <a:avLst/>
          </a:prstGeom>
          <a:noFill/>
        </p:spPr>
        <p:txBody>
          <a:bodyPr wrap="square" anchor="t" lIns="0" rIns="0" tIns="18288" bIns="18288">
            <a:spAutoFit/>
          </a:bodyPr>
          <a:lstStyle/>
          <a:p>
            <a:pPr algn="l">
              <a:spcAft>
                <a:spcPts val="400"/>
              </a:spcAft>
            </a:pPr>
            <a:r>
              <a:rPr sz="1400" b="0">
                <a:solidFill>
                  <a:srgbClr val="111827"/>
                </a:solidFill>
                <a:latin typeface="Calibri"/>
              </a:rPr>
              <a:t>pytest (18 tests)</a:t>
            </a:r>
          </a:p>
          <a:p>
            <a:pPr algn="l">
              <a:spcAft>
                <a:spcPts val="400"/>
              </a:spcAft>
            </a:pPr>
            <a:r>
              <a:rPr sz="1400" b="0">
                <a:solidFill>
                  <a:srgbClr val="111827"/>
                </a:solidFill>
                <a:latin typeface="Calibri"/>
              </a:rPr>
              <a:t>own Appendix C scorer</a:t>
            </a:r>
          </a:p>
          <a:p>
            <a:pPr algn="l">
              <a:spcAft>
                <a:spcPts val="400"/>
              </a:spcAft>
            </a:pPr>
            <a:r>
              <a:rPr sz="1400" b="0">
                <a:solidFill>
                  <a:srgbClr val="111827"/>
                </a:solidFill>
                <a:latin typeface="Calibri"/>
              </a:rPr>
              <a:t>gold labels, 60 paraphrases</a:t>
            </a:r>
          </a:p>
        </p:txBody>
      </p:sp>
      <p:sp>
        <p:nvSpPr>
          <p:cNvPr id="145" name="TextBox 144"/>
          <p:cNvSpPr txBox="1"/>
          <p:nvPr/>
        </p:nvSpPr>
        <p:spPr>
          <a:xfrm>
            <a:off x="9528048" y="3840480"/>
            <a:ext cx="1719072" cy="868680"/>
          </a:xfrm>
          <a:prstGeom prst="rect">
            <a:avLst/>
          </a:prstGeom>
          <a:noFill/>
        </p:spPr>
        <p:txBody>
          <a:bodyPr wrap="square" anchor="t" lIns="0" rIns="0" tIns="18288" bIns="18288">
            <a:spAutoFit/>
          </a:bodyPr>
          <a:lstStyle/>
          <a:p>
            <a:pPr algn="l">
              <a:spcAft>
                <a:spcPts val="400"/>
              </a:spcAft>
            </a:pPr>
            <a:r>
              <a:rPr sz="1100" b="1">
                <a:solidFill>
                  <a:srgbClr val="4B5563"/>
                </a:solidFill>
                <a:latin typeface="Calibri"/>
              </a:rPr>
              <a:t>used for</a:t>
            </a:r>
          </a:p>
          <a:p>
            <a:pPr algn="l">
              <a:spcAft>
                <a:spcPts val="400"/>
              </a:spcAft>
            </a:pPr>
            <a:r>
              <a:rPr sz="1200" b="0">
                <a:solidFill>
                  <a:srgbClr val="4B5563"/>
                </a:solidFill>
                <a:latin typeface="Calibri"/>
              </a:rPr>
              <a:t>before/after numbers</a:t>
            </a:r>
          </a:p>
        </p:txBody>
      </p:sp>
      <p:sp>
        <p:nvSpPr>
          <p:cNvPr id="146" name="TextBox 145"/>
          <p:cNvSpPr txBox="1"/>
          <p:nvPr/>
        </p:nvSpPr>
        <p:spPr>
          <a:xfrm>
            <a:off x="841248" y="5120640"/>
            <a:ext cx="10515600" cy="640080"/>
          </a:xfrm>
          <a:prstGeom prst="rect">
            <a:avLst/>
          </a:prstGeom>
          <a:noFill/>
        </p:spPr>
        <p:txBody>
          <a:bodyPr wrap="square" anchor="t" lIns="0" rIns="0" tIns="18288" bIns="18288">
            <a:spAutoFit/>
          </a:bodyPr>
          <a:lstStyle/>
          <a:p>
            <a:pPr algn="l">
              <a:spcAft>
                <a:spcPts val="400"/>
              </a:spcAft>
            </a:pPr>
            <a:r>
              <a:rPr sz="1300" b="0">
                <a:solidFill>
                  <a:srgbClr val="4B5563"/>
                </a:solidFill>
                <a:latin typeface="Calibri"/>
              </a:rPr>
              <a:t>Runs with no API key at all. Default path is deterministic and costs $0 per query; set GROQ_API_KEY to switch on the LLM path.</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a:t>
            </a:r>
            <a:endParaRPr b="1">
              <a:solidFill>
                <a:srgbClr val="704EA6"/>
              </a:solidFill>
            </a:endParaRPr>
          </a:p>
        </p:txBody>
      </p:sp>
      <p:sp>
        <p:nvSpPr>
          <p:cNvPr id="132" name="Rounded Rectangle 131"/>
          <p:cNvSpPr/>
          <p:nvPr/>
        </p:nvSpPr>
        <p:spPr>
          <a:xfrm>
            <a:off x="841248" y="1691640"/>
            <a:ext cx="3337560" cy="146304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069848" y="1783080"/>
            <a:ext cx="2926080" cy="1463040"/>
          </a:xfrm>
          <a:prstGeom prst="rect">
            <a:avLst/>
          </a:prstGeom>
          <a:noFill/>
        </p:spPr>
        <p:txBody>
          <a:bodyPr wrap="square" anchor="t" lIns="0" rIns="0" tIns="18288" bIns="18288">
            <a:spAutoFit/>
          </a:bodyPr>
          <a:lstStyle/>
          <a:p>
            <a:pPr algn="l">
              <a:spcAft>
                <a:spcPts val="400"/>
              </a:spcAft>
            </a:pPr>
            <a:r>
              <a:rPr sz="3400" b="1">
                <a:solidFill>
                  <a:srgbClr val="1428A0"/>
                </a:solidFill>
                <a:latin typeface="Calibri"/>
              </a:rPr>
              <a:t>31 ms</a:t>
            </a:r>
          </a:p>
          <a:p>
            <a:pPr algn="l">
              <a:spcAft>
                <a:spcPts val="400"/>
              </a:spcAft>
            </a:pPr>
            <a:r>
              <a:rPr sz="1300" b="1">
                <a:solidFill>
                  <a:srgbClr val="111827"/>
                </a:solidFill>
                <a:latin typeface="Calibri"/>
              </a:rPr>
              <a:t>P95 for a brand-new complaint</a:t>
            </a:r>
          </a:p>
          <a:p>
            <a:pPr algn="l">
              <a:spcAft>
                <a:spcPts val="400"/>
              </a:spcAft>
            </a:pPr>
            <a:r>
              <a:rPr sz="1100" b="0">
                <a:solidFill>
                  <a:srgbClr val="4B5563"/>
                </a:solidFill>
                <a:latin typeface="Calibri"/>
              </a:rPr>
              <a:t>vs ~15 min manual, target 8 s</a:t>
            </a:r>
          </a:p>
        </p:txBody>
      </p:sp>
      <p:sp>
        <p:nvSpPr>
          <p:cNvPr id="134" name="Rounded Rectangle 133"/>
          <p:cNvSpPr/>
          <p:nvPr/>
        </p:nvSpPr>
        <p:spPr>
          <a:xfrm>
            <a:off x="4407408" y="1691640"/>
            <a:ext cx="3337560" cy="146304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636008" y="1783080"/>
            <a:ext cx="2926080" cy="1463040"/>
          </a:xfrm>
          <a:prstGeom prst="rect">
            <a:avLst/>
          </a:prstGeom>
          <a:noFill/>
        </p:spPr>
        <p:txBody>
          <a:bodyPr wrap="square" anchor="t" lIns="0" rIns="0" tIns="18288" bIns="18288">
            <a:spAutoFit/>
          </a:bodyPr>
          <a:lstStyle/>
          <a:p>
            <a:pPr algn="l">
              <a:spcAft>
                <a:spcPts val="400"/>
              </a:spcAft>
            </a:pPr>
            <a:r>
              <a:rPr sz="3400" b="1">
                <a:solidFill>
                  <a:srgbClr val="1428A0"/>
                </a:solidFill>
                <a:latin typeface="Calibri"/>
              </a:rPr>
              <a:t>4 ms</a:t>
            </a:r>
          </a:p>
          <a:p>
            <a:pPr algn="l">
              <a:spcAft>
                <a:spcPts val="400"/>
              </a:spcAft>
            </a:pPr>
            <a:r>
              <a:rPr sz="1300" b="1">
                <a:solidFill>
                  <a:srgbClr val="111827"/>
                </a:solidFill>
                <a:latin typeface="Calibri"/>
              </a:rPr>
              <a:t>P95 when a paraphrase hits the cache</a:t>
            </a:r>
          </a:p>
          <a:p>
            <a:pPr algn="l">
              <a:spcAft>
                <a:spcPts val="400"/>
              </a:spcAft>
            </a:pPr>
            <a:r>
              <a:rPr sz="1100" b="0">
                <a:solidFill>
                  <a:srgbClr val="4B5563"/>
                </a:solidFill>
                <a:latin typeface="Calibri"/>
              </a:rPr>
              <a:t>$0, no model call</a:t>
            </a:r>
          </a:p>
        </p:txBody>
      </p:sp>
      <p:sp>
        <p:nvSpPr>
          <p:cNvPr id="136" name="Rounded Rectangle 135"/>
          <p:cNvSpPr/>
          <p:nvPr/>
        </p:nvSpPr>
        <p:spPr>
          <a:xfrm>
            <a:off x="7973568" y="1691640"/>
            <a:ext cx="3337560" cy="146304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8202168" y="1783080"/>
            <a:ext cx="2926080" cy="1463040"/>
          </a:xfrm>
          <a:prstGeom prst="rect">
            <a:avLst/>
          </a:prstGeom>
          <a:noFill/>
        </p:spPr>
        <p:txBody>
          <a:bodyPr wrap="square" anchor="t" lIns="0" rIns="0" tIns="18288" bIns="18288">
            <a:spAutoFit/>
          </a:bodyPr>
          <a:lstStyle/>
          <a:p>
            <a:pPr algn="l">
              <a:spcAft>
                <a:spcPts val="400"/>
              </a:spcAft>
            </a:pPr>
            <a:r>
              <a:rPr sz="3400" b="1">
                <a:solidFill>
                  <a:srgbClr val="1428A0"/>
                </a:solidFill>
                <a:latin typeface="Calibri"/>
              </a:rPr>
              <a:t>90%</a:t>
            </a:r>
          </a:p>
          <a:p>
            <a:pPr algn="l">
              <a:spcAft>
                <a:spcPts val="400"/>
              </a:spcAft>
            </a:pPr>
            <a:r>
              <a:rPr sz="1300" b="1">
                <a:solidFill>
                  <a:srgbClr val="111827"/>
                </a:solidFill>
                <a:latin typeface="Calibri"/>
              </a:rPr>
              <a:t>of 60 unseen paraphrases served from cache</a:t>
            </a:r>
          </a:p>
          <a:p>
            <a:pPr algn="l">
              <a:spcAft>
                <a:spcPts val="400"/>
              </a:spcAft>
            </a:pPr>
            <a:r>
              <a:rPr sz="1100" b="0">
                <a:solidFill>
                  <a:srgbClr val="4B5563"/>
                </a:solidFill>
                <a:latin typeface="Calibri"/>
              </a:rPr>
              <a:t>was 0% before</a:t>
            </a:r>
          </a:p>
        </p:txBody>
      </p:sp>
      <p:sp>
        <p:nvSpPr>
          <p:cNvPr id="138" name="TextBox 137"/>
          <p:cNvSpPr txBox="1"/>
          <p:nvPr/>
        </p:nvSpPr>
        <p:spPr>
          <a:xfrm>
            <a:off x="841248" y="3566160"/>
            <a:ext cx="5120640" cy="365760"/>
          </a:xfrm>
          <a:prstGeom prst="rect">
            <a:avLst/>
          </a:prstGeom>
          <a:noFill/>
        </p:spPr>
        <p:txBody>
          <a:bodyPr wrap="square" anchor="t" lIns="0" rIns="0" tIns="18288" bIns="18288">
            <a:spAutoFit/>
          </a:bodyPr>
          <a:lstStyle/>
          <a:p>
            <a:pPr algn="l">
              <a:spcAft>
                <a:spcPts val="400"/>
              </a:spcAft>
            </a:pPr>
            <a:r>
              <a:rPr sz="1600" b="1">
                <a:solidFill>
                  <a:srgbClr val="1428A0"/>
                </a:solidFill>
                <a:latin typeface="Calibri"/>
              </a:rPr>
              <a:t>A typical ticket</a:t>
            </a:r>
          </a:p>
        </p:txBody>
      </p:sp>
      <p:sp>
        <p:nvSpPr>
          <p:cNvPr id="139" name="Oval 138"/>
          <p:cNvSpPr/>
          <p:nvPr/>
        </p:nvSpPr>
        <p:spPr>
          <a:xfrm>
            <a:off x="841248" y="4023360"/>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1</a:t>
            </a:r>
          </a:p>
        </p:txBody>
      </p:sp>
      <p:sp>
        <p:nvSpPr>
          <p:cNvPr id="140" name="TextBox 139"/>
          <p:cNvSpPr txBox="1"/>
          <p:nvPr/>
        </p:nvSpPr>
        <p:spPr>
          <a:xfrm>
            <a:off x="1325880" y="3995928"/>
            <a:ext cx="4663440" cy="457200"/>
          </a:xfrm>
          <a:prstGeom prst="rect">
            <a:avLst/>
          </a:prstGeom>
          <a:noFill/>
        </p:spPr>
        <p:txBody>
          <a:bodyPr wrap="square" anchor="ctr" lIns="0" rIns="0" tIns="18288" bIns="18288">
            <a:spAutoFit/>
          </a:bodyPr>
          <a:lstStyle/>
          <a:p>
            <a:pPr algn="l">
              <a:spcAft>
                <a:spcPts val="400"/>
              </a:spcAft>
            </a:pPr>
            <a:r>
              <a:rPr sz="1300" b="0">
                <a:solidFill>
                  <a:srgbClr val="111827"/>
                </a:solidFill>
                <a:latin typeface="Calibri"/>
              </a:rPr>
              <a:t>“S22 touch is laggy and inputs are delayed”</a:t>
            </a:r>
          </a:p>
        </p:txBody>
      </p:sp>
      <p:sp>
        <p:nvSpPr>
          <p:cNvPr id="141" name="Oval 140"/>
          <p:cNvSpPr/>
          <p:nvPr/>
        </p:nvSpPr>
        <p:spPr>
          <a:xfrm>
            <a:off x="841248" y="4572000"/>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2</a:t>
            </a:r>
          </a:p>
        </p:txBody>
      </p:sp>
      <p:sp>
        <p:nvSpPr>
          <p:cNvPr id="142" name="TextBox 141"/>
          <p:cNvSpPr txBox="1"/>
          <p:nvPr/>
        </p:nvSpPr>
        <p:spPr>
          <a:xfrm>
            <a:off x="1325880" y="4544568"/>
            <a:ext cx="4663440" cy="457200"/>
          </a:xfrm>
          <a:prstGeom prst="rect">
            <a:avLst/>
          </a:prstGeom>
          <a:noFill/>
        </p:spPr>
        <p:txBody>
          <a:bodyPr wrap="square" anchor="ctr" lIns="0" rIns="0" tIns="18288" bIns="18288">
            <a:spAutoFit/>
          </a:bodyPr>
          <a:lstStyle/>
          <a:p>
            <a:pPr algn="l">
              <a:spcAft>
                <a:spcPts val="400"/>
              </a:spcAft>
            </a:pPr>
            <a:r>
              <a:rPr sz="1300" b="0">
                <a:solidFill>
                  <a:srgbClr val="111827"/>
                </a:solidFill>
                <a:latin typeface="Calibri"/>
              </a:rPr>
              <a:t>Plan: enable Touch sensitivity, switch nav to buttons, check charger</a:t>
            </a:r>
          </a:p>
        </p:txBody>
      </p:sp>
      <p:sp>
        <p:nvSpPr>
          <p:cNvPr id="143" name="Oval 142"/>
          <p:cNvSpPr/>
          <p:nvPr/>
        </p:nvSpPr>
        <p:spPr>
          <a:xfrm>
            <a:off x="841248" y="5120640"/>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3</a:t>
            </a:r>
          </a:p>
        </p:txBody>
      </p:sp>
      <p:sp>
        <p:nvSpPr>
          <p:cNvPr id="144" name="TextBox 143"/>
          <p:cNvSpPr txBox="1"/>
          <p:nvPr/>
        </p:nvSpPr>
        <p:spPr>
          <a:xfrm>
            <a:off x="1325880" y="5093208"/>
            <a:ext cx="4663440" cy="457200"/>
          </a:xfrm>
          <a:prstGeom prst="rect">
            <a:avLst/>
          </a:prstGeom>
          <a:noFill/>
        </p:spPr>
        <p:txBody>
          <a:bodyPr wrap="square" anchor="ctr" lIns="0" rIns="0" tIns="18288" bIns="18288">
            <a:spAutoFit/>
          </a:bodyPr>
          <a:lstStyle/>
          <a:p>
            <a:pPr algn="l">
              <a:spcAft>
                <a:spcPts val="400"/>
              </a:spcAft>
            </a:pPr>
            <a:r>
              <a:rPr sz="1300" b="0">
                <a:solidFill>
                  <a:srgbClr val="111827"/>
                </a:solidFill>
                <a:latin typeface="Calibri"/>
              </a:rPr>
              <a:t>Phone confirms each setting really changed</a:t>
            </a:r>
          </a:p>
        </p:txBody>
      </p:sp>
      <p:sp>
        <p:nvSpPr>
          <p:cNvPr id="145" name="Oval 144"/>
          <p:cNvSpPr/>
          <p:nvPr/>
        </p:nvSpPr>
        <p:spPr>
          <a:xfrm>
            <a:off x="841248" y="5669280"/>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4</a:t>
            </a:r>
          </a:p>
        </p:txBody>
      </p:sp>
      <p:sp>
        <p:nvSpPr>
          <p:cNvPr id="146" name="TextBox 145"/>
          <p:cNvSpPr txBox="1"/>
          <p:nvPr/>
        </p:nvSpPr>
        <p:spPr>
          <a:xfrm>
            <a:off x="1325880" y="5641848"/>
            <a:ext cx="4663440" cy="457200"/>
          </a:xfrm>
          <a:prstGeom prst="rect">
            <a:avLst/>
          </a:prstGeom>
          <a:noFill/>
        </p:spPr>
        <p:txBody>
          <a:bodyPr wrap="square" anchor="ctr" lIns="0" rIns="0" tIns="18288" bIns="18288">
            <a:spAutoFit/>
          </a:bodyPr>
          <a:lstStyle/>
          <a:p>
            <a:pPr algn="l">
              <a:spcAft>
                <a:spcPts val="400"/>
              </a:spcAft>
            </a:pPr>
            <a:r>
              <a:rPr sz="1300" b="0">
                <a:solidFill>
                  <a:srgbClr val="111827"/>
                </a:solidFill>
                <a:latin typeface="Calibri"/>
              </a:rPr>
              <a:t>Only if it's still laggy: restart, safe mode, then reset (backup first)</a:t>
            </a:r>
          </a:p>
        </p:txBody>
      </p:sp>
      <p:pic>
        <p:nvPicPr>
          <p:cNvPr id="147" name="Picture 146" descr="demo_batch.png"/>
          <p:cNvPicPr>
            <a:picLocks noChangeAspect="1"/>
          </p:cNvPicPr>
          <p:nvPr/>
        </p:nvPicPr>
        <p:blipFill>
          <a:blip r:embed="rId3"/>
          <a:stretch>
            <a:fillRect/>
          </a:stretch>
        </p:blipFill>
        <p:spPr>
          <a:xfrm>
            <a:off x="6903720" y="3611880"/>
            <a:ext cx="4434840" cy="2771775"/>
          </a:xfrm>
          <a:prstGeom prst="rect">
            <a:avLst/>
          </a:prstGeom>
          <a:ln w="12700">
            <a:solidFill>
              <a:srgbClr val="D1D5DB"/>
            </a:solidFill>
          </a:ln>
        </p:spPr>
      </p:pic>
      <p:sp>
        <p:nvSpPr>
          <p:cNvPr id="148" name="TextBox 147"/>
          <p:cNvSpPr txBox="1"/>
          <p:nvPr/>
        </p:nvSpPr>
        <p:spPr>
          <a:xfrm>
            <a:off x="6903720" y="6428232"/>
            <a:ext cx="4434840" cy="274320"/>
          </a:xfrm>
          <a:prstGeom prst="rect">
            <a:avLst/>
          </a:prstGeom>
          <a:noFill/>
        </p:spPr>
        <p:txBody>
          <a:bodyPr wrap="square" anchor="t" lIns="0" rIns="0" tIns="18288" bIns="18288">
            <a:spAutoFit/>
          </a:bodyPr>
          <a:lstStyle/>
          <a:p>
            <a:pPr algn="l">
              <a:spcAft>
                <a:spcPts val="400"/>
              </a:spcAft>
            </a:pPr>
            <a:r>
              <a:rPr sz="1100" b="0">
                <a:solidFill>
                  <a:srgbClr val="4B5563"/>
                </a:solidFill>
                <a:latin typeface="Calibri"/>
              </a:rPr>
              <a:t>Batch run: all 20 kit complaints in one go</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3600">
                <a:solidFill>
                  <a:srgbClr val="704EA6"/>
                </a:solidFill>
                <a:latin typeface="Calibri"/>
                <a:ea typeface="Calibri"/>
                <a:cs typeface="Calibri"/>
                <a:sym typeface="Calibri"/>
              </a:rPr>
              <a:t>Innovation highlights, results and limitations</a:t>
            </a:r>
            <a:endParaRPr b="1" sz="4400">
              <a:solidFill>
                <a:srgbClr val="704EA6"/>
              </a:solidFill>
            </a:endParaRPr>
          </a:p>
        </p:txBody>
      </p:sp>
      <p:sp>
        <p:nvSpPr>
          <p:cNvPr id="138" name="TextBox 137"/>
          <p:cNvSpPr txBox="1"/>
          <p:nvPr/>
        </p:nvSpPr>
        <p:spPr>
          <a:xfrm>
            <a:off x="841248" y="1600200"/>
            <a:ext cx="5760720" cy="365760"/>
          </a:xfrm>
          <a:prstGeom prst="rect">
            <a:avLst/>
          </a:prstGeom>
          <a:noFill/>
        </p:spPr>
        <p:txBody>
          <a:bodyPr wrap="square" anchor="t" lIns="0" rIns="0" tIns="18288" bIns="18288">
            <a:spAutoFit/>
          </a:bodyPr>
          <a:lstStyle/>
          <a:p>
            <a:pPr algn="l">
              <a:spcAft>
                <a:spcPts val="400"/>
              </a:spcAft>
            </a:pPr>
            <a:r>
              <a:rPr sz="1400" b="1">
                <a:solidFill>
                  <a:srgbClr val="1428A0"/>
                </a:solidFill>
                <a:latin typeface="Calibri"/>
              </a:rPr>
              <a:t>Before (starter code) vs after, same scorer</a:t>
            </a:r>
          </a:p>
        </p:txBody>
      </p:sp>
      <p:graphicFrame>
        <p:nvGraphicFramePr>
          <p:cNvPr id="139" name="Chart 138"/>
          <p:cNvGraphicFramePr>
            <a:graphicFrameLocks noGrp="1"/>
          </p:cNvGraphicFramePr>
          <p:nvPr/>
        </p:nvGraphicFramePr>
        <p:xfrm>
          <a:off x="841248" y="1965960"/>
          <a:ext cx="5852160" cy="3063240"/>
        </p:xfrm>
        <a:graphic>
          <a:graphicData uri="http://schemas.openxmlformats.org/drawingml/2006/chart">
            <c:chart r:id="rId3"/>
          </a:graphicData>
        </a:graphic>
      </p:graphicFrame>
      <p:sp>
        <p:nvSpPr>
          <p:cNvPr id="140" name="TextBox 139"/>
          <p:cNvSpPr txBox="1"/>
          <p:nvPr/>
        </p:nvSpPr>
        <p:spPr>
          <a:xfrm>
            <a:off x="841248" y="5029200"/>
            <a:ext cx="5852160" cy="274320"/>
          </a:xfrm>
          <a:prstGeom prst="rect">
            <a:avLst/>
          </a:prstGeom>
          <a:noFill/>
        </p:spPr>
        <p:txBody>
          <a:bodyPr wrap="square" anchor="t" lIns="0" rIns="0" tIns="18288" bIns="18288">
            <a:spAutoFit/>
          </a:bodyPr>
          <a:lstStyle/>
          <a:p>
            <a:pPr algn="l">
              <a:spcAft>
                <a:spcPts val="400"/>
              </a:spcAft>
            </a:pPr>
            <a:r>
              <a:rPr sz="1000" b="0">
                <a:solidFill>
                  <a:srgbClr val="4B5563"/>
                </a:solidFill>
                <a:latin typeface="Calibri"/>
              </a:rPr>
              <a:t>Step accuracy 2.74 → 2.99 (of 3). URL leaks 0, catalog-valid links 100% in both.</a:t>
            </a:r>
          </a:p>
        </p:txBody>
      </p:sp>
      <p:sp>
        <p:nvSpPr>
          <p:cNvPr id="141" name="TextBox 140"/>
          <p:cNvSpPr txBox="1"/>
          <p:nvPr/>
        </p:nvSpPr>
        <p:spPr>
          <a:xfrm>
            <a:off x="841248" y="5394960"/>
            <a:ext cx="5852160" cy="320040"/>
          </a:xfrm>
          <a:prstGeom prst="rect">
            <a:avLst/>
          </a:prstGeom>
          <a:noFill/>
        </p:spPr>
        <p:txBody>
          <a:bodyPr wrap="square" anchor="t" lIns="0" rIns="0" tIns="18288" bIns="18288">
            <a:spAutoFit/>
          </a:bodyPr>
          <a:lstStyle/>
          <a:p>
            <a:pPr algn="l">
              <a:spcAft>
                <a:spcPts val="400"/>
              </a:spcAft>
            </a:pPr>
            <a:r>
              <a:rPr sz="1400" b="1">
                <a:solidFill>
                  <a:srgbClr val="1428A0"/>
                </a:solidFill>
                <a:latin typeface="Calibri"/>
              </a:rPr>
              <a:t>Limitations</a:t>
            </a:r>
          </a:p>
        </p:txBody>
      </p:sp>
      <p:sp>
        <p:nvSpPr>
          <p:cNvPr id="142" name="TextBox 141"/>
          <p:cNvSpPr txBox="1"/>
          <p:nvPr/>
        </p:nvSpPr>
        <p:spPr>
          <a:xfrm>
            <a:off x="841248" y="5715000"/>
            <a:ext cx="5852160" cy="914400"/>
          </a:xfrm>
          <a:prstGeom prst="rect">
            <a:avLst/>
          </a:prstGeom>
          <a:noFill/>
        </p:spPr>
        <p:txBody>
          <a:bodyPr wrap="square" anchor="t" lIns="0" rIns="0" tIns="18288" bIns="18288">
            <a:spAutoFit/>
          </a:bodyPr>
          <a:lstStyle/>
          <a:p>
            <a:pPr algn="l">
              <a:spcAft>
                <a:spcPts val="400"/>
              </a:spcAft>
            </a:pPr>
            <a:r>
              <a:rPr sz="1100" b="0">
                <a:solidFill>
                  <a:srgbClr val="111827"/>
                </a:solidFill>
                <a:latin typeface="Calibri"/>
              </a:rPr>
              <a:t>Some kit queries come with loosely related articles (floating circle → Multi window).</a:t>
            </a:r>
          </a:p>
          <a:p>
            <a:pPr algn="l">
              <a:spcAft>
                <a:spcPts val="400"/>
              </a:spcAft>
            </a:pPr>
            <a:r>
              <a:rPr sz="1100" b="0">
                <a:solidFill>
                  <a:srgbClr val="111827"/>
                </a:solidFill>
                <a:latin typeface="Calibri"/>
              </a:rPr>
              <a:t>Catalog has no Safe mode, Software update or Auto rotate screens.</a:t>
            </a:r>
          </a:p>
          <a:p>
            <a:pPr algn="l">
              <a:spcAft>
                <a:spcPts val="400"/>
              </a:spcAft>
            </a:pPr>
            <a:r>
              <a:rPr sz="1100" b="0">
                <a:solidFill>
                  <a:srgbClr val="111827"/>
                </a:solidFill>
                <a:latin typeface="Calibri"/>
              </a:rPr>
              <a:t>Offline extractor is tuned on 11 articles; the phone in the demo is simulated.</a:t>
            </a:r>
          </a:p>
        </p:txBody>
      </p:sp>
      <p:sp>
        <p:nvSpPr>
          <p:cNvPr id="143" name="TextBox 142"/>
          <p:cNvSpPr txBox="1"/>
          <p:nvPr/>
        </p:nvSpPr>
        <p:spPr>
          <a:xfrm>
            <a:off x="7040880" y="1600200"/>
            <a:ext cx="4343400" cy="365760"/>
          </a:xfrm>
          <a:prstGeom prst="rect">
            <a:avLst/>
          </a:prstGeom>
          <a:noFill/>
        </p:spPr>
        <p:txBody>
          <a:bodyPr wrap="square" anchor="t" lIns="0" rIns="0" tIns="18288" bIns="18288">
            <a:spAutoFit/>
          </a:bodyPr>
          <a:lstStyle/>
          <a:p>
            <a:pPr algn="l">
              <a:spcAft>
                <a:spcPts val="400"/>
              </a:spcAft>
            </a:pPr>
            <a:r>
              <a:rPr sz="1400" b="1">
                <a:solidFill>
                  <a:srgbClr val="1428A0"/>
                </a:solidFill>
                <a:latin typeface="Calibri"/>
              </a:rPr>
              <a:t>Innovation: check the fix actually worked</a:t>
            </a:r>
          </a:p>
        </p:txBody>
      </p:sp>
      <p:pic>
        <p:nvPicPr>
          <p:cNvPr id="144" name="Picture 143" descr="closed_loop.png"/>
          <p:cNvPicPr>
            <a:picLocks noChangeAspect="1"/>
          </p:cNvPicPr>
          <p:nvPr/>
        </p:nvPicPr>
        <p:blipFill>
          <a:blip r:embed="rId4"/>
          <a:stretch>
            <a:fillRect/>
          </a:stretch>
        </p:blipFill>
        <p:spPr>
          <a:xfrm>
            <a:off x="7040880" y="2011680"/>
            <a:ext cx="4343400" cy="2702560"/>
          </a:xfrm>
          <a:prstGeom prst="rect">
            <a:avLst/>
          </a:prstGeom>
        </p:spPr>
      </p:pic>
      <p:sp>
        <p:nvSpPr>
          <p:cNvPr id="145" name="TextBox 144"/>
          <p:cNvSpPr txBox="1"/>
          <p:nvPr/>
        </p:nvSpPr>
        <p:spPr>
          <a:xfrm>
            <a:off x="7040880" y="4800600"/>
            <a:ext cx="4343400" cy="1737360"/>
          </a:xfrm>
          <a:prstGeom prst="rect">
            <a:avLst/>
          </a:prstGeom>
          <a:noFill/>
        </p:spPr>
        <p:txBody>
          <a:bodyPr wrap="square" anchor="t" lIns="0" rIns="0" tIns="18288" bIns="18288">
            <a:spAutoFit/>
          </a:bodyPr>
          <a:lstStyle/>
          <a:p>
            <a:pPr algn="l">
              <a:spcAft>
                <a:spcPts val="400"/>
              </a:spcAft>
            </a:pPr>
            <a:r>
              <a:rPr sz="1200" b="0">
                <a:solidFill>
                  <a:srgbClr val="111827"/>
                </a:solidFill>
                <a:latin typeface="Calibri"/>
              </a:rPr>
              <a:t>We fill validationDeeplink from the catalog: onURL means expect True, offURL means False, updateURL means the number went up or down.</a:t>
            </a:r>
          </a:p>
          <a:p>
            <a:pPr algn="l">
              <a:spcAft>
                <a:spcPts val="400"/>
              </a:spcAft>
            </a:pPr>
            <a:r>
              <a:rPr sz="1200" b="0">
                <a:solidFill>
                  <a:srgbClr val="111827"/>
                </a:solidFill>
                <a:latin typeface="Calibri"/>
              </a:rPr>
              <a:t>On the kit: 7/8 simulated toggles confirmed. Restart / reset stay locked until the safe fixes are done.</a:t>
            </a:r>
          </a:p>
          <a:p>
            <a:pPr algn="l">
              <a:spcAft>
                <a:spcPts val="400"/>
              </a:spcAft>
            </a:pPr>
            <a:r>
              <a:rPr sz="1200" b="0">
                <a:solidFill>
                  <a:srgbClr val="4B5563"/>
                </a:solidFill>
                <a:latin typeface="Calibri"/>
              </a:rPr>
              <a:t>Also: step-to-sentence trace, relevance gate, one plan per problem.</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cxnSp>
        <p:nvCxnSpPr>
          <p:cNvPr id="144" name="Connector 143"/>
          <p:cNvCxnSpPr/>
          <p:nvPr/>
        </p:nvCxnSpPr>
        <p:spPr>
          <a:xfrm>
            <a:off x="1280160" y="2514600"/>
            <a:ext cx="9601200" cy="0"/>
          </a:xfrm>
          <a:prstGeom prst="line">
            <a:avLst/>
          </a:prstGeom>
          <a:ln w="38100">
            <a:solidFill>
              <a:srgbClr val="D1D5DB"/>
            </a:solidFill>
          </a:ln>
        </p:spPr>
        <p:style>
          <a:lnRef idx="2">
            <a:schemeClr val="accent1"/>
          </a:lnRef>
          <a:fillRef idx="0">
            <a:schemeClr val="accent1"/>
          </a:fillRef>
          <a:effectRef idx="1">
            <a:schemeClr val="accent1"/>
          </a:effectRef>
          <a:fontRef idx="minor">
            <a:schemeClr val="tx1"/>
          </a:fontRef>
        </p:style>
      </p:cxnSp>
      <p:sp>
        <p:nvSpPr>
          <p:cNvPr id="145" name="Oval 144"/>
          <p:cNvSpPr/>
          <p:nvPr/>
        </p:nvSpPr>
        <p:spPr>
          <a:xfrm>
            <a:off x="1115568" y="2194560"/>
            <a:ext cx="640080" cy="64008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146" name="Rounded Rectangle 145"/>
          <p:cNvSpPr/>
          <p:nvPr/>
        </p:nvSpPr>
        <p:spPr>
          <a:xfrm>
            <a:off x="841248" y="3154680"/>
            <a:ext cx="2468880" cy="187451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024128" y="3291840"/>
            <a:ext cx="2148840" cy="1691640"/>
          </a:xfrm>
          <a:prstGeom prst="rect">
            <a:avLst/>
          </a:prstGeom>
          <a:noFill/>
        </p:spPr>
        <p:txBody>
          <a:bodyPr wrap="square" anchor="t" lIns="0" rIns="0" tIns="18288" bIns="18288">
            <a:spAutoFit/>
          </a:bodyPr>
          <a:lstStyle/>
          <a:p>
            <a:pPr algn="l">
              <a:spcAft>
                <a:spcPts val="400"/>
              </a:spcAft>
            </a:pPr>
            <a:r>
              <a:rPr sz="1700" b="1">
                <a:solidFill>
                  <a:srgbClr val="111827"/>
                </a:solidFill>
                <a:latin typeface="Calibri"/>
              </a:rPr>
              <a:t>Real device check</a:t>
            </a:r>
          </a:p>
          <a:p>
            <a:pPr algn="l">
              <a:spcAft>
                <a:spcPts val="400"/>
              </a:spcAft>
            </a:pPr>
            <a:r>
              <a:rPr sz="1400" b="0">
                <a:solidFill>
                  <a:srgbClr val="4B5563"/>
                </a:solidFill>
                <a:latin typeface="Calibri"/>
              </a:rPr>
              <a:t>Run the val/ reads through Bixby on an actual Galaxy instead of our simulator.</a:t>
            </a:r>
          </a:p>
        </p:txBody>
      </p:sp>
      <p:sp>
        <p:nvSpPr>
          <p:cNvPr id="148" name="Oval 147"/>
          <p:cNvSpPr/>
          <p:nvPr/>
        </p:nvSpPr>
        <p:spPr>
          <a:xfrm>
            <a:off x="3813048" y="2194560"/>
            <a:ext cx="640080" cy="64008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49" name="Rounded Rectangle 148"/>
          <p:cNvSpPr/>
          <p:nvPr/>
        </p:nvSpPr>
        <p:spPr>
          <a:xfrm>
            <a:off x="3538728" y="3154680"/>
            <a:ext cx="2468880" cy="187451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3721608" y="3291840"/>
            <a:ext cx="2148840" cy="1691640"/>
          </a:xfrm>
          <a:prstGeom prst="rect">
            <a:avLst/>
          </a:prstGeom>
          <a:noFill/>
        </p:spPr>
        <p:txBody>
          <a:bodyPr wrap="square" anchor="t" lIns="0" rIns="0" tIns="18288" bIns="18288">
            <a:spAutoFit/>
          </a:bodyPr>
          <a:lstStyle/>
          <a:p>
            <a:pPr algn="l">
              <a:spcAft>
                <a:spcPts val="400"/>
              </a:spcAft>
            </a:pPr>
            <a:r>
              <a:rPr sz="1700" b="1">
                <a:solidFill>
                  <a:srgbClr val="111827"/>
                </a:solidFill>
                <a:latin typeface="Calibri"/>
              </a:rPr>
              <a:t>Learn from outcomes</a:t>
            </a:r>
          </a:p>
          <a:p>
            <a:pPr algn="l">
              <a:spcAft>
                <a:spcPts val="400"/>
              </a:spcAft>
            </a:pPr>
            <a:r>
              <a:rPr sz="1400" b="0">
                <a:solidFill>
                  <a:srgbClr val="4B5563"/>
                </a:solidFill>
                <a:latin typeface="Calibri"/>
              </a:rPr>
              <a:t>Log which fix actually solved the ticket and rank plans with that.</a:t>
            </a:r>
          </a:p>
        </p:txBody>
      </p:sp>
      <p:sp>
        <p:nvSpPr>
          <p:cNvPr id="151" name="Oval 150"/>
          <p:cNvSpPr/>
          <p:nvPr/>
        </p:nvSpPr>
        <p:spPr>
          <a:xfrm>
            <a:off x="6510528" y="2194560"/>
            <a:ext cx="640080" cy="64008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2" name="Rounded Rectangle 151"/>
          <p:cNvSpPr/>
          <p:nvPr/>
        </p:nvSpPr>
        <p:spPr>
          <a:xfrm>
            <a:off x="6236208" y="3154680"/>
            <a:ext cx="2468880" cy="187451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6419088" y="3291840"/>
            <a:ext cx="2148840" cy="1691640"/>
          </a:xfrm>
          <a:prstGeom prst="rect">
            <a:avLst/>
          </a:prstGeom>
          <a:noFill/>
        </p:spPr>
        <p:txBody>
          <a:bodyPr wrap="square" anchor="t" lIns="0" rIns="0" tIns="18288" bIns="18288">
            <a:spAutoFit/>
          </a:bodyPr>
          <a:lstStyle/>
          <a:p>
            <a:pPr algn="l">
              <a:spcAft>
                <a:spcPts val="400"/>
              </a:spcAft>
            </a:pPr>
            <a:r>
              <a:rPr sz="1700" b="1">
                <a:solidFill>
                  <a:srgbClr val="111827"/>
                </a:solidFill>
                <a:latin typeface="Calibri"/>
              </a:rPr>
              <a:t>Hindi / Hinglish</a:t>
            </a:r>
          </a:p>
          <a:p>
            <a:pPr algn="l">
              <a:spcAft>
                <a:spcPts val="400"/>
              </a:spcAft>
            </a:pPr>
            <a:r>
              <a:rPr sz="1400" b="0">
                <a:solidFill>
                  <a:srgbClr val="4B5563"/>
                </a:solidFill>
                <a:latin typeface="Calibri"/>
              </a:rPr>
              <a:t>Most complaints in India mix languages. Add normalisation and multilingual embeddings.</a:t>
            </a:r>
          </a:p>
        </p:txBody>
      </p:sp>
      <p:sp>
        <p:nvSpPr>
          <p:cNvPr id="154" name="Oval 153"/>
          <p:cNvSpPr/>
          <p:nvPr/>
        </p:nvSpPr>
        <p:spPr>
          <a:xfrm>
            <a:off x="9208008" y="2194560"/>
            <a:ext cx="640080" cy="64008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55" name="Rounded Rectangle 154"/>
          <p:cNvSpPr/>
          <p:nvPr/>
        </p:nvSpPr>
        <p:spPr>
          <a:xfrm>
            <a:off x="8933688" y="3154680"/>
            <a:ext cx="2468880" cy="187451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9116568" y="3291840"/>
            <a:ext cx="2148840" cy="1691640"/>
          </a:xfrm>
          <a:prstGeom prst="rect">
            <a:avLst/>
          </a:prstGeom>
          <a:noFill/>
        </p:spPr>
        <p:txBody>
          <a:bodyPr wrap="square" anchor="t" lIns="0" rIns="0" tIns="18288" bIns="18288">
            <a:spAutoFit/>
          </a:bodyPr>
          <a:lstStyle/>
          <a:p>
            <a:pPr algn="l">
              <a:spcAft>
                <a:spcPts val="400"/>
              </a:spcAft>
            </a:pPr>
            <a:r>
              <a:rPr sz="1700" b="1">
                <a:solidFill>
                  <a:srgbClr val="111827"/>
                </a:solidFill>
                <a:latin typeface="Calibri"/>
              </a:rPr>
              <a:t>Per-device screens</a:t>
            </a:r>
          </a:p>
          <a:p>
            <a:pPr algn="l">
              <a:spcAft>
                <a:spcPts val="400"/>
              </a:spcAft>
            </a:pPr>
            <a:r>
              <a:rPr sz="1400" b="0">
                <a:solidFill>
                  <a:srgbClr val="4B5563"/>
                </a:solidFill>
                <a:latin typeface="Calibri"/>
              </a:rPr>
              <a:t>Flip cover vs inner display, tablets. We already detect the model, the catalog doesn't split yet.</a:t>
            </a:r>
          </a:p>
        </p:txBody>
      </p:sp>
      <p:sp>
        <p:nvSpPr>
          <p:cNvPr id="157" name="TextBox 156"/>
          <p:cNvSpPr txBox="1"/>
          <p:nvPr/>
        </p:nvSpPr>
        <p:spPr>
          <a:xfrm>
            <a:off x="841248" y="5349240"/>
            <a:ext cx="10515600" cy="548640"/>
          </a:xfrm>
          <a:prstGeom prst="rect">
            <a:avLst/>
          </a:prstGeom>
          <a:noFill/>
        </p:spPr>
        <p:txBody>
          <a:bodyPr wrap="square" anchor="t" lIns="0" rIns="0" tIns="18288" bIns="18288">
            <a:spAutoFit/>
          </a:bodyPr>
          <a:lstStyle/>
          <a:p>
            <a:pPr algn="l">
              <a:spcAft>
                <a:spcPts val="400"/>
              </a:spcAft>
            </a:pPr>
            <a:r>
              <a:rPr sz="1300" b="0">
                <a:solidFill>
                  <a:srgbClr val="4B5563"/>
                </a:solidFill>
                <a:latin typeface="Calibri"/>
              </a:rPr>
              <a:t>Short term (next few weeks): run the Groq path on the full kit and add those numbers to metrics.md.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Brownie points slide( differentiation)</a:t>
            </a:r>
            <a:endParaRPr b="1" sz="4400">
              <a:solidFill>
                <a:srgbClr val="704EA6"/>
              </a:solidFill>
            </a:endParaRPr>
          </a:p>
        </p:txBody>
      </p:sp>
      <p:sp>
        <p:nvSpPr>
          <p:cNvPr id="150" name="Rounded Rectangle 149"/>
          <p:cNvSpPr/>
          <p:nvPr/>
        </p:nvSpPr>
        <p:spPr>
          <a:xfrm>
            <a:off x="841248" y="1783080"/>
            <a:ext cx="3063240" cy="18288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42416" y="1947672"/>
            <a:ext cx="2697480" cy="1554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We measured it</a:t>
            </a:r>
          </a:p>
          <a:p>
            <a:pPr algn="l">
              <a:spcAft>
                <a:spcPts val="400"/>
              </a:spcAft>
            </a:pPr>
            <a:r>
              <a:rPr sz="1300" b="0">
                <a:solidFill>
                  <a:srgbClr val="111827"/>
                </a:solidFill>
                <a:latin typeface="Calibri"/>
              </a:rPr>
              <a:t>Our own scorer, hand-labelled gold and 60 paraphrases we wrote. We ran it on the starter code too, so the “before” numbers are real (5% → 100% rule compliance).</a:t>
            </a:r>
          </a:p>
        </p:txBody>
      </p:sp>
      <p:sp>
        <p:nvSpPr>
          <p:cNvPr id="152" name="Rounded Rectangle 151"/>
          <p:cNvSpPr/>
          <p:nvPr/>
        </p:nvSpPr>
        <p:spPr>
          <a:xfrm>
            <a:off x="4087368" y="1783080"/>
            <a:ext cx="3063240" cy="18288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288536" y="1947672"/>
            <a:ext cx="2697480" cy="1554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Fixes get checked</a:t>
            </a:r>
          </a:p>
          <a:p>
            <a:pPr algn="l">
              <a:spcAft>
                <a:spcPts val="400"/>
              </a:spcAft>
            </a:pPr>
            <a:r>
              <a:rPr sz="1300" b="0">
                <a:solidFill>
                  <a:srgbClr val="111827"/>
                </a:solidFill>
                <a:latin typeface="Calibri"/>
              </a:rPr>
              <a:t>A deeplink only proves a screen opened. We read the setting back and only then move on.</a:t>
            </a:r>
          </a:p>
        </p:txBody>
      </p:sp>
      <p:sp>
        <p:nvSpPr>
          <p:cNvPr id="154" name="Rounded Rectangle 153"/>
          <p:cNvSpPr/>
          <p:nvPr/>
        </p:nvSpPr>
        <p:spPr>
          <a:xfrm>
            <a:off x="841248" y="3794760"/>
            <a:ext cx="3063240" cy="18288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42416" y="3959352"/>
            <a:ext cx="2697480" cy="1554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Nothing made up</a:t>
            </a:r>
          </a:p>
          <a:p>
            <a:pPr algn="l">
              <a:spcAft>
                <a:spcPts val="400"/>
              </a:spcAft>
            </a:pPr>
            <a:r>
              <a:rPr sz="1300" b="0">
                <a:solidFill>
                  <a:srgbClr val="111827"/>
                </a:solidFill>
                <a:latin typeface="Calibri"/>
              </a:rPr>
              <a:t>Every step points to the sentence in the SIIS text it came from. No match means an empty plan, not a guess.</a:t>
            </a:r>
          </a:p>
        </p:txBody>
      </p:sp>
      <p:sp>
        <p:nvSpPr>
          <p:cNvPr id="156" name="Rounded Rectangle 155"/>
          <p:cNvSpPr/>
          <p:nvPr/>
        </p:nvSpPr>
        <p:spPr>
          <a:xfrm>
            <a:off x="4087368" y="3794760"/>
            <a:ext cx="3063240" cy="18288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4288536" y="3959352"/>
            <a:ext cx="2697480" cy="1554480"/>
          </a:xfrm>
          <a:prstGeom prst="rect">
            <a:avLst/>
          </a:prstGeom>
          <a:noFill/>
        </p:spPr>
        <p:txBody>
          <a:bodyPr wrap="square" anchor="t" lIns="0" rIns="0" tIns="18288" bIns="18288">
            <a:spAutoFit/>
          </a:bodyPr>
          <a:lstStyle/>
          <a:p>
            <a:pPr algn="l">
              <a:spcAft>
                <a:spcPts val="400"/>
              </a:spcAft>
            </a:pPr>
            <a:r>
              <a:rPr sz="1700" b="1">
                <a:solidFill>
                  <a:srgbClr val="1428A0"/>
                </a:solidFill>
                <a:latin typeface="Calibri"/>
              </a:rPr>
              <a:t>Works offline</a:t>
            </a:r>
          </a:p>
          <a:p>
            <a:pPr algn="l">
              <a:spcAft>
                <a:spcPts val="400"/>
              </a:spcAft>
            </a:pPr>
            <a:r>
              <a:rPr sz="1300" b="0">
                <a:solidFill>
                  <a:srgbClr val="111827"/>
                </a:solidFill>
                <a:latin typeface="Calibri"/>
              </a:rPr>
              <a:t>No API key needed, $0 per query. The LLM is an optional extra and its output is re-checked like everything else.</a:t>
            </a:r>
          </a:p>
        </p:txBody>
      </p:sp>
      <p:pic>
        <p:nvPicPr>
          <p:cNvPr id="158" name="Picture 157" descr="demo_metrics.png"/>
          <p:cNvPicPr>
            <a:picLocks noChangeAspect="1"/>
          </p:cNvPicPr>
          <p:nvPr/>
        </p:nvPicPr>
        <p:blipFill>
          <a:blip r:embed="rId3"/>
          <a:stretch>
            <a:fillRect/>
          </a:stretch>
        </p:blipFill>
        <p:spPr>
          <a:xfrm>
            <a:off x="7452360" y="1783080"/>
            <a:ext cx="3931920" cy="2457450"/>
          </a:xfrm>
          <a:prstGeom prst="rect">
            <a:avLst/>
          </a:prstGeom>
          <a:ln w="12700">
            <a:solidFill>
              <a:srgbClr val="D1D5DB"/>
            </a:solidFill>
          </a:ln>
        </p:spPr>
      </p:pic>
      <p:sp>
        <p:nvSpPr>
          <p:cNvPr id="159" name="TextBox 158"/>
          <p:cNvSpPr txBox="1"/>
          <p:nvPr/>
        </p:nvSpPr>
        <p:spPr>
          <a:xfrm>
            <a:off x="7452360" y="4343400"/>
            <a:ext cx="3931920" cy="548640"/>
          </a:xfrm>
          <a:prstGeom prst="rect">
            <a:avLst/>
          </a:prstGeom>
          <a:noFill/>
        </p:spPr>
        <p:txBody>
          <a:bodyPr wrap="square" anchor="t" lIns="0" rIns="0" tIns="18288" bIns="18288">
            <a:spAutoFit/>
          </a:bodyPr>
          <a:lstStyle/>
          <a:p>
            <a:pPr algn="l">
              <a:spcAft>
                <a:spcPts val="400"/>
              </a:spcAft>
            </a:pPr>
            <a:r>
              <a:rPr sz="1100" b="0">
                <a:solidFill>
                  <a:srgbClr val="4B5563"/>
                </a:solidFill>
                <a:latin typeface="Calibri"/>
              </a:rPr>
              <a:t>Metrics page in the console. Same numbers as metrics.md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Updated on Public GitHub</a:t>
            </a:r>
            <a:endParaRPr/>
          </a:p>
        </p:txBody>
      </p:sp>
      <p:sp>
        <p:nvSpPr>
          <p:cNvPr id="156" name="Google Shape;156;p1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177800" lvl="0" marL="177800" rtl="0" algn="l">
              <a:lnSpc>
                <a:spcPct val="90000"/>
              </a:lnSpc>
              <a:spcBef>
                <a:spcPts val="0"/>
              </a:spcBef>
              <a:spcAft>
                <a:spcPts val="0"/>
              </a:spcAft>
              <a:buClr>
                <a:srgbClr val="63637E"/>
              </a:buClr>
              <a:buSzPts val="2800"/>
              <a:buChar char="•"/>
            </a:pPr>
            <a:r>
              <a:rPr lang="en-US" sz="2800">
                <a:solidFill>
                  <a:srgbClr val="63637E"/>
                </a:solidFill>
                <a:latin typeface="Calibri"/>
                <a:ea typeface="Calibri"/>
                <a:cs typeface="Calibri"/>
                <a:sym typeface="Calibri"/>
              </a:rPr>
              <a:t>Working prototype code — public or shared GitHub repo (Y/N)</a:t>
            </a:r>
            <a:r>
              <a:rPr b="1" sz="2800">
                <a:solidFill>
                  <a:srgbClr val="1428A0"/>
                </a:solidFill>
              </a:rPr>
              <a:t>   Y</a:t>
            </a:r>
            <a:endParaRPr sz="2800"/>
          </a:p>
          <a:p>
            <a:pPr indent="-177800" lvl="0" marL="177800" rtl="0" algn="l">
              <a:lnSpc>
                <a:spcPct val="90000"/>
              </a:lnSpc>
              <a:spcBef>
                <a:spcPts val="1500"/>
              </a:spcBef>
              <a:spcAft>
                <a:spcPts val="0"/>
              </a:spcAft>
              <a:buClr>
                <a:srgbClr val="63637E"/>
              </a:buClr>
              <a:buSzPts val="2800"/>
              <a:buChar char="•"/>
            </a:pPr>
            <a:r>
              <a:rPr lang="en-US" sz="2800">
                <a:solidFill>
                  <a:srgbClr val="63637E"/>
                </a:solidFill>
                <a:latin typeface="Calibri"/>
                <a:ea typeface="Calibri"/>
                <a:cs typeface="Calibri"/>
                <a:sym typeface="Calibri"/>
              </a:rPr>
              <a:t>README with reproducible setup instructions (Y/N)</a:t>
            </a:r>
            <a:r>
              <a:rPr b="1" sz="2800">
                <a:solidFill>
                  <a:srgbClr val="1428A0"/>
                </a:solidFill>
              </a:rPr>
              <a:t>   Y</a:t>
            </a:r>
            <a:endParaRPr sz="2800"/>
          </a:p>
          <a:p>
            <a:pPr indent="-177800" lvl="0" marL="177800" rtl="0" algn="l">
              <a:lnSpc>
                <a:spcPct val="90000"/>
              </a:lnSpc>
              <a:spcBef>
                <a:spcPts val="1500"/>
              </a:spcBef>
              <a:spcAft>
                <a:spcPts val="0"/>
              </a:spcAft>
              <a:buClr>
                <a:srgbClr val="63637E"/>
              </a:buClr>
              <a:buSzPts val="2800"/>
              <a:buChar char="•"/>
            </a:pPr>
            <a:r>
              <a:rPr lang="en-US" sz="2800">
                <a:solidFill>
                  <a:srgbClr val="63637E"/>
                </a:solidFill>
                <a:latin typeface="Calibri"/>
                <a:ea typeface="Calibri"/>
                <a:cs typeface="Calibri"/>
                <a:sym typeface="Calibri"/>
              </a:rPr>
              <a:t>Demo video, max 5 minutes (YouTube or Drive link)</a:t>
            </a:r>
            <a:r>
              <a:rPr b="1" sz="2800">
                <a:solidFill>
                  <a:srgbClr val="1428A0"/>
                </a:solidFill>
              </a:rPr>
              <a:t>   link: ________</a:t>
            </a:r>
            <a:endParaRPr sz="2800"/>
          </a:p>
          <a:p>
            <a:pPr indent="-177800" lvl="0" marL="177800" rtl="0" algn="l">
              <a:lnSpc>
                <a:spcPct val="90000"/>
              </a:lnSpc>
              <a:spcBef>
                <a:spcPts val="1500"/>
              </a:spcBef>
              <a:spcAft>
                <a:spcPts val="0"/>
              </a:spcAft>
              <a:buClr>
                <a:srgbClr val="63637E"/>
              </a:buClr>
              <a:buSzPts val="2800"/>
              <a:buChar char="•"/>
            </a:pPr>
            <a:r>
              <a:rPr lang="en-US" sz="2800">
                <a:solidFill>
                  <a:srgbClr val="63637E"/>
                </a:solidFill>
                <a:latin typeface="Calibri"/>
                <a:ea typeface="Calibri"/>
                <a:cs typeface="Calibri"/>
                <a:sym typeface="Calibri"/>
              </a:rPr>
              <a:t>Presentation file (PPT or PDF) (Y/N)</a:t>
            </a:r>
            <a:r>
              <a:rPr b="1" sz="2800">
                <a:solidFill>
                  <a:srgbClr val="1428A0"/>
                </a:solidFill>
              </a:rPr>
              <a:t>   Y</a:t>
            </a:r>
            <a:endParaRPr sz="2800"/>
          </a:p>
          <a:p>
            <a:pPr indent="0" lvl="0" marL="0" rtl="0" algn="l">
              <a:lnSpc>
                <a:spcPct val="90000"/>
              </a:lnSpc>
              <a:spcBef>
                <a:spcPts val="1500"/>
              </a:spcBef>
              <a:spcAft>
                <a:spcPts val="0"/>
              </a:spcAft>
              <a:buClr>
                <a:schemeClr val="dk1"/>
              </a:buClr>
              <a:buSzPts val="2800"/>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3730214"/>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