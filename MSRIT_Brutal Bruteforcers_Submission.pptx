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Before</c:v>
                </c:pt>
              </c:strCache>
            </c:strRef>
          </c:tx>
          <c:spPr>
            <a:solidFill>
              <a:srgbClr val="9CA3AF"/>
            </a:solidFill>
          </c:spPr>
          <c:invertIfNegative val="1"/>
          <c:dLbls>
            <c:numFmt formatCode="0&quot;%&quot;"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Rule compliance</c:v>
                </c:pt>
                <c:pt idx="1">
                  <c:v>Exact deeplink screen</c:v>
                </c:pt>
                <c:pt idx="2">
                  <c:v>Rephrasing cache hits</c:v>
                </c:pt>
                <c:pt idx="3">
                  <c:v>Checkable validation</c:v>
                </c:pt>
              </c:strCache>
            </c:strRef>
          </c:cat>
          <c:val>
            <c:numRef>
              <c:f>Sheet1!$B$2:$B$5</c:f>
              <c:numCache>
                <c:formatCode>General</c:formatCode>
                <c:ptCount val="4"/>
                <c:pt idx="0">
                  <c:v>5</c:v>
                </c:pt>
                <c:pt idx="1">
                  <c:v>1.5</c:v>
                </c:pt>
                <c:pt idx="2">
                  <c:v>0</c:v>
                </c:pt>
                <c:pt idx="3">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652-494C-AA09-02202C45BBEF}"/>
            </c:ext>
          </c:extLst>
        </c:ser>
        <c:ser>
          <c:idx val="1"/>
          <c:order val="1"/>
          <c:tx>
            <c:strRef>
              <c:f>Sheet1!$C$1</c:f>
              <c:strCache>
                <c:ptCount val="1"/>
                <c:pt idx="0">
                  <c:v>After</c:v>
                </c:pt>
              </c:strCache>
            </c:strRef>
          </c:tx>
          <c:spPr>
            <a:solidFill>
              <a:srgbClr val="1428A0"/>
            </a:solidFill>
          </c:spPr>
          <c:invertIfNegative val="1"/>
          <c:dLbls>
            <c:numFmt formatCode="0&quot;%&quot;"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Rule compliance</c:v>
                </c:pt>
                <c:pt idx="1">
                  <c:v>Exact deeplink screen</c:v>
                </c:pt>
                <c:pt idx="2">
                  <c:v>Rephrasing cache hits</c:v>
                </c:pt>
                <c:pt idx="3">
                  <c:v>Checkable validation</c:v>
                </c:pt>
              </c:strCache>
            </c:strRef>
          </c:cat>
          <c:val>
            <c:numRef>
              <c:f>Sheet1!$C$2:$C$5</c:f>
              <c:numCache>
                <c:formatCode>General</c:formatCode>
                <c:ptCount val="4"/>
                <c:pt idx="0">
                  <c:v>100</c:v>
                </c:pt>
                <c:pt idx="1">
                  <c:v>100</c:v>
                </c:pt>
                <c:pt idx="2">
                  <c:v>86.7</c:v>
                </c:pt>
                <c:pt idx="3">
                  <c:v>42.9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652-494C-AA09-02202C45BBEF}"/>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solidFill>
                  <a:srgbClr val="111827"/>
                </a:solidFill>
              </a:defRPr>
            </a:pPr>
            <a:endParaRPr lang="en-US"/>
          </a:p>
        </c:txPr>
        <c:crossAx val="-2113994440"/>
        <c:crosses val="autoZero"/>
        <c:auto val="1"/>
        <c:lblAlgn val="ctr"/>
        <c:lblOffset val="100"/>
        <c:noMultiLvlLbl val="0"/>
      </c:catAx>
      <c:valAx>
        <c:axId val="-2113994440"/>
        <c:scaling>
          <c:orientation val="minMax"/>
          <c:max val="108"/>
          <c:min val="0"/>
        </c:scaling>
        <c:delete val="0"/>
        <c:axPos val="l"/>
        <c:majorGridlines>
          <c:spPr>
            <a:ln>
              <a:solidFill>
                <a:srgbClr val="D1D5DB"/>
              </a:solidFill>
            </a:ln>
          </c:spPr>
        </c:majorGridlines>
        <c:numFmt formatCode="General" sourceLinked="1"/>
        <c:majorTickMark val="out"/>
        <c:minorTickMark val="none"/>
        <c:tickLblPos val="nextTo"/>
        <c:spPr>
          <a:ln>
            <a:noFill/>
          </a:ln>
        </c:spPr>
        <c:txPr>
          <a:bodyPr/>
          <a:lstStyle/>
          <a:p>
            <a:pPr>
              <a:defRPr sz="1000">
                <a:solidFill>
                  <a:srgbClr val="4B5563"/>
                </a:solidFill>
              </a:defRPr>
            </a:pPr>
            <a:endParaRPr lang="en-US"/>
          </a:p>
        </c:txPr>
        <c:crossAx val="-2068027336"/>
        <c:crosses val="autoZero"/>
        <c:crossBetween val="between"/>
        <c:majorUnit val="20"/>
      </c:valAx>
    </c:plotArea>
    <c:legend>
      <c:legendPos val="b"/>
      <c:overlay val="0"/>
      <c:txPr>
        <a:bodyPr/>
        <a:lstStyle/>
        <a:p>
          <a:pPr>
            <a:defRPr sz="1100"/>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Theme 2 is about turning vague complaints into a plan the phone can act on. On the left are three complaints straight from the kit. None of them name the setting that's wrong. On the right is a cut-down version of what our engine returns for the first one: an ordered plan with a one-tap link for the Settings step, a physical check, and a last-resort step that only unlocks if the others don't help. Right now an agent does this by hand in about fifteen minutes.</a:t>
            </a: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Today an agent reads the article, picks steps by hand and the customer hunts through menus. When we read the brief closely we found holes: the validation field has no rule, 'return empty' is never defined, and multi-problem messages aren't covered. We also ran the starter code on the kit: titles were cut off, a factory reset was a one-tap step, and only five percent of plans passed the brief's own rules.</a:t>
            </a: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Four layers. On top, the clients: our web console, the batch and eval runner, and the closed-loop phone check. They all call one FastAPI service. In the engine, a complaint is enriched first, then we try the semantic cache. On a hit the plan comes back in a couple of milliseconds. On a miss we look up the SIIS article, stop with an empty plan if nothing fits, extract steps, map each Settings step to its exact catalog deeplink, and validate everything against the brief's rules. Groq is optional and only drafts; our validators decide.</a:t>
            </a: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Recording order: pick the touchscreen complaint, show the plan in its three tiers, press Run safe steps and watch the phone open each screen and confirm the setting, unlock the last-resort tier, then open the Trace tab and hover a step to show the exact sentence it came from. Finish on Batch run for all twenty complaints.</a:t>
            </a: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The engine is plain Python with FastAPI. Retrieval is scikit-learn TF-IDF, no GPU and no paid model needed. The LLM path uses Groq's gpt-oss-120b and is optional. The console is Next.js with a light and dark theme, and we test with pytest plus our own scorer for the Appendix C metrics.</a:t>
            </a:r>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The three numbers are from our metrics run. A new complaint is answered in about a tenth of a second at worst, a known one in a couple of milliseconds with no model call, and most rephrasings are recognised from the cache. For a customer it means one tap per fix, and the disruptive steps only come up when they're really needed.</a:t>
            </a: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Left: the same scorer run on the starter code and on ours. Rule compliance goes from five to a hundred percent, and every Settings step now lands on its exact screen. Right is the part we're proudest of: a one-tap link only proves a screen opened, so we read the setting back through its validation link and only then move on. We're upfront about the limits: the phone is simulated, and a few kit complaints only have loosely related articles.</a:t>
            </a:r>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Next steps, roughly in order. The most important is running the closed loop on a real phone, since today it's simulated. Then learning from which fix actually solved the ticket, supporting Hindi and Hinglish complaints, and per-device screens.</a:t>
            </a:r>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What sets us apart: we measured ourselves honestly, including the starter code; our fixes get checked, not just linked; nothing in a plan is invented; and it all runs offline for free.</a:t>
            </a:r>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5183188" y="987425"/>
            <a:ext cx="6172200" cy="4873625"/>
          </a:xfrm>
          <a:prstGeom prst="rect">
            <a:avLst/>
          </a:prstGeom>
          <a:noFill/>
          <a:ln>
            <a:noFill/>
          </a:ln>
        </p:spPr>
      </p:sp>
      <p:sp>
        <p:nvSpPr>
          <p:cNvPr id="69" name="Google Shape;69;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adi546/prism_project.gi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youtu.be/HOXW_BEBL_s?si=me-_9JaS3cTX85T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name="adj" fmla="val 50000"/>
            </a:avLst>
          </a:prstGeom>
          <a:solidFill>
            <a:srgbClr val="FFFFFF"/>
          </a:solidFill>
          <a:ln w="12700" cap="flat" cmpd="sng">
            <a:solidFill>
              <a:srgbClr val="D9D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77240" y="676656"/>
            <a:ext cx="24231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100"/>
              <a:buFont typeface="Arial"/>
              <a:buNone/>
            </a:pPr>
            <a:r>
              <a:rPr lang="en-US" sz="1100" b="1" i="0" u="none" strike="noStrike" cap="none">
                <a:solidFill>
                  <a:srgbClr val="6D28D9"/>
                </a:solidFill>
                <a:latin typeface="Arial"/>
                <a:ea typeface="Arial"/>
                <a:cs typeface="Arial"/>
                <a:sym typeface="Arial"/>
              </a:rPr>
              <a:t>SAMSUNG PRISM</a:t>
            </a:r>
            <a:endParaRPr sz="1100" b="0" i="0" u="none" strike="noStrike" cap="non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5000"/>
              <a:buFont typeface="Arial"/>
              <a:buNone/>
            </a:pPr>
            <a:r>
              <a:rPr lang="en-US" sz="5000" b="1" i="0" u="none" strike="noStrike" cap="none">
                <a:solidFill>
                  <a:srgbClr val="14142B"/>
                </a:solidFill>
                <a:latin typeface="Arial"/>
                <a:ea typeface="Arial"/>
                <a:cs typeface="Arial"/>
                <a:sym typeface="Arial"/>
              </a:rPr>
              <a:t>Generative AI</a:t>
            </a:r>
            <a:endParaRPr sz="5000" b="0" i="0" u="none" strike="noStrike" cap="non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28D9"/>
              </a:buClr>
              <a:buSzPts val="5000"/>
              <a:buFont typeface="Arial"/>
              <a:buNone/>
            </a:pPr>
            <a:r>
              <a:rPr lang="en-US" sz="5000" b="1" i="0" u="none" strike="noStrike" cap="none">
                <a:solidFill>
                  <a:srgbClr val="6D28D9"/>
                </a:solidFill>
                <a:latin typeface="Arial"/>
                <a:ea typeface="Arial"/>
                <a:cs typeface="Arial"/>
                <a:sym typeface="Arial"/>
              </a:rPr>
              <a:t>Hackathon</a:t>
            </a:r>
            <a:endParaRPr sz="50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2500"/>
              <a:buFont typeface="Arial"/>
              <a:buNone/>
            </a:pPr>
            <a:r>
              <a:rPr lang="en-US" sz="2500" b="1" i="0" u="none" strike="noStrike" cap="none">
                <a:solidFill>
                  <a:srgbClr val="14142B"/>
                </a:solidFill>
                <a:latin typeface="Arial"/>
                <a:ea typeface="Arial"/>
                <a:cs typeface="Arial"/>
                <a:sym typeface="Arial"/>
              </a:rPr>
              <a:t>3rd Edition</a:t>
            </a:r>
            <a:r>
              <a:rPr lang="en-US" sz="2000" b="0" i="0" u="none" strike="noStrike" cap="none">
                <a:solidFill>
                  <a:srgbClr val="63637E"/>
                </a:solidFill>
                <a:latin typeface="Calibri"/>
                <a:ea typeface="Calibri"/>
                <a:cs typeface="Calibri"/>
                <a:sym typeface="Calibri"/>
              </a:rPr>
              <a:t>   2026 – 27</a:t>
            </a:r>
            <a:endParaRPr sz="25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777240" y="3310128"/>
            <a:ext cx="5852160" cy="77724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Theme ID - 2</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Team Name –Brutal </a:t>
            </a:r>
            <a:r>
              <a:rPr lang="en-US" sz="1600" b="0" i="0" u="none" strike="noStrike" cap="none" dirty="0" err="1">
                <a:solidFill>
                  <a:srgbClr val="63637E"/>
                </a:solidFill>
                <a:latin typeface="Calibri"/>
                <a:ea typeface="Calibri"/>
                <a:cs typeface="Calibri"/>
                <a:sym typeface="Calibri"/>
              </a:rPr>
              <a:t>Bruteforcers</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College Name -MSRIT</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1- Aadi </a:t>
            </a:r>
            <a:r>
              <a:rPr lang="en-US" sz="1600" b="0" i="0" u="none" strike="noStrike" cap="none" dirty="0" err="1">
                <a:solidFill>
                  <a:srgbClr val="63637E"/>
                </a:solidFill>
                <a:latin typeface="Calibri"/>
                <a:ea typeface="Calibri"/>
                <a:cs typeface="Calibri"/>
                <a:sym typeface="Calibri"/>
              </a:rPr>
              <a:t>Yathaarth</a:t>
            </a:r>
            <a:r>
              <a:rPr lang="en-US" sz="1600" b="0" i="0" u="none" strike="noStrike" cap="none" dirty="0">
                <a:solidFill>
                  <a:srgbClr val="63637E"/>
                </a:solidFill>
                <a:latin typeface="Calibri"/>
                <a:ea typeface="Calibri"/>
                <a:cs typeface="Calibri"/>
                <a:sym typeface="Calibri"/>
              </a:rPr>
              <a:t> Kulshrestha &amp; 1ms24cs001@msrit.edu</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2- Aditya Hegde &amp; 1ms24cs010@msrit.edu</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3- Chinmay </a:t>
            </a:r>
            <a:r>
              <a:rPr lang="en-US" sz="1600" b="0" i="0" u="none" strike="noStrike" cap="none" dirty="0" err="1">
                <a:solidFill>
                  <a:srgbClr val="63637E"/>
                </a:solidFill>
                <a:latin typeface="Calibri"/>
                <a:ea typeface="Calibri"/>
                <a:cs typeface="Calibri"/>
                <a:sym typeface="Calibri"/>
              </a:rPr>
              <a:t>Panghri</a:t>
            </a:r>
            <a:r>
              <a:rPr lang="en-US" sz="1600" b="0" i="0" u="none" strike="noStrike" cap="none" dirty="0">
                <a:solidFill>
                  <a:srgbClr val="63637E"/>
                </a:solidFill>
                <a:latin typeface="Calibri"/>
                <a:ea typeface="Calibri"/>
                <a:cs typeface="Calibri"/>
                <a:sym typeface="Calibri"/>
              </a:rPr>
              <a:t> &amp; 1ms24cs054@msrit.edu</a:t>
            </a:r>
            <a:endParaRPr dirty="0"/>
          </a:p>
          <a:p>
            <a:pPr marL="177800" lvl="0" indent="-177800">
              <a:spcBef>
                <a:spcPts val="500"/>
              </a:spcBef>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Submission </a:t>
            </a:r>
            <a:r>
              <a:rPr lang="en-US" sz="1600" b="0" i="0" u="none" strike="noStrike" cap="none" dirty="0" err="1">
                <a:solidFill>
                  <a:srgbClr val="63637E"/>
                </a:solidFill>
                <a:latin typeface="Calibri"/>
                <a:ea typeface="Calibri"/>
                <a:cs typeface="Calibri"/>
                <a:sym typeface="Calibri"/>
              </a:rPr>
              <a:t>Github</a:t>
            </a:r>
            <a:r>
              <a:rPr lang="en-US" sz="1600" b="0" i="0" u="none" strike="noStrike" cap="none" dirty="0">
                <a:solidFill>
                  <a:srgbClr val="63637E"/>
                </a:solidFill>
                <a:latin typeface="Calibri"/>
                <a:ea typeface="Calibri"/>
                <a:cs typeface="Calibri"/>
                <a:sym typeface="Calibri"/>
              </a:rPr>
              <a:t> link - </a:t>
            </a:r>
            <a:r>
              <a:rPr lang="en-US" sz="1600" dirty="0">
                <a:solidFill>
                  <a:srgbClr val="63637E"/>
                </a:solidFill>
                <a:latin typeface="Calibri"/>
                <a:ea typeface="Calibri"/>
                <a:cs typeface="Calibri"/>
                <a:sym typeface="Calibri"/>
                <a:hlinkClick r:id="rId3"/>
              </a:rPr>
              <a:t>https://github.com/Aadi546/prism_project.git</a:t>
            </a:r>
            <a:endParaRPr dirty="0"/>
          </a:p>
          <a:p>
            <a:pPr marL="177800" marR="0" lvl="0" indent="-76200" algn="l" rtl="0">
              <a:spcBef>
                <a:spcPts val="500"/>
              </a:spcBef>
              <a:spcAft>
                <a:spcPts val="0"/>
              </a:spcAft>
              <a:buClr>
                <a:schemeClr val="dk1"/>
              </a:buClr>
              <a:buSzPts val="1600"/>
              <a:buFont typeface="Calibri"/>
              <a:buNone/>
            </a:pPr>
            <a:endParaRPr sz="1600" b="0" i="0" u="none" strike="noStrike" cap="none" dirty="0">
              <a:solidFill>
                <a:srgbClr val="63637E"/>
              </a:solidFill>
              <a:latin typeface="Calibri"/>
              <a:ea typeface="Calibri"/>
              <a:cs typeface="Calibri"/>
              <a:sym typeface="Calibri"/>
            </a:endParaRPr>
          </a:p>
        </p:txBody>
      </p:sp>
      <p:pic>
        <p:nvPicPr>
          <p:cNvPr id="96" name="Google Shape;96;p1" descr="hero_network.png"/>
          <p:cNvPicPr preferRelativeResize="0"/>
          <p:nvPr/>
        </p:nvPicPr>
        <p:blipFill rotWithShape="1">
          <a:blip r:embed="rId4">
            <a:alphaModFix/>
          </a:blip>
          <a:srcRect/>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Theme</a:t>
            </a:r>
            <a:endParaRPr/>
          </a:p>
        </p:txBody>
      </p:sp>
      <p:sp>
        <p:nvSpPr>
          <p:cNvPr id="102" name="TextBox 101"/>
          <p:cNvSpPr txBox="1"/>
          <p:nvPr/>
        </p:nvSpPr>
        <p:spPr>
          <a:xfrm>
            <a:off x="841248" y="1600200"/>
            <a:ext cx="10515600" cy="457200"/>
          </a:xfrm>
          <a:prstGeom prst="rect">
            <a:avLst/>
          </a:prstGeom>
          <a:noFill/>
        </p:spPr>
        <p:txBody>
          <a:bodyPr wrap="square" lIns="0" tIns="18288" rIns="0" bIns="18288" anchor="t">
            <a:spAutoFit/>
          </a:bodyPr>
          <a:lstStyle/>
          <a:p>
            <a:pPr algn="l">
              <a:spcAft>
                <a:spcPts val="400"/>
              </a:spcAft>
            </a:pPr>
            <a:r>
              <a:rPr sz="2000" b="1">
                <a:solidFill>
                  <a:srgbClr val="1428A0"/>
                </a:solidFill>
                <a:latin typeface="Calibri"/>
              </a:rPr>
              <a:t>Theme 2: Smart Guided Troubleshooting Engine</a:t>
            </a:r>
          </a:p>
        </p:txBody>
      </p:sp>
      <p:sp>
        <p:nvSpPr>
          <p:cNvPr id="103" name="TextBox 102"/>
          <p:cNvSpPr txBox="1"/>
          <p:nvPr/>
        </p:nvSpPr>
        <p:spPr>
          <a:xfrm>
            <a:off x="841248" y="2057400"/>
            <a:ext cx="4937760" cy="365760"/>
          </a:xfrm>
          <a:prstGeom prst="rect">
            <a:avLst/>
          </a:prstGeom>
          <a:noFill/>
        </p:spPr>
        <p:txBody>
          <a:bodyPr wrap="square" lIns="0" tIns="18288" rIns="0" bIns="18288" anchor="t">
            <a:spAutoFit/>
          </a:bodyPr>
          <a:lstStyle/>
          <a:p>
            <a:pPr algn="l">
              <a:spcAft>
                <a:spcPts val="400"/>
              </a:spcAft>
            </a:pPr>
            <a:r>
              <a:rPr sz="1300" b="1">
                <a:solidFill>
                  <a:srgbClr val="4B5563"/>
                </a:solidFill>
                <a:latin typeface="Calibri"/>
              </a:rPr>
              <a:t>What customers actually type (kit input.txt)</a:t>
            </a:r>
          </a:p>
        </p:txBody>
      </p:sp>
      <p:sp>
        <p:nvSpPr>
          <p:cNvPr id="104" name="Rounded Rectangle 103"/>
          <p:cNvSpPr/>
          <p:nvPr/>
        </p:nvSpPr>
        <p:spPr>
          <a:xfrm>
            <a:off x="841248" y="2468880"/>
            <a:ext cx="4937760" cy="84124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1024128" y="2560320"/>
            <a:ext cx="4572000" cy="685800"/>
          </a:xfrm>
          <a:prstGeom prst="rect">
            <a:avLst/>
          </a:prstGeom>
          <a:noFill/>
        </p:spPr>
        <p:txBody>
          <a:bodyPr wrap="square" lIns="0" tIns="18288" rIns="0" bIns="18288" anchor="ctr">
            <a:spAutoFit/>
          </a:bodyPr>
          <a:lstStyle/>
          <a:p>
            <a:pPr algn="l">
              <a:spcAft>
                <a:spcPts val="400"/>
              </a:spcAft>
            </a:pPr>
            <a:r>
              <a:rPr sz="1300" b="0">
                <a:solidFill>
                  <a:srgbClr val="111827"/>
                </a:solidFill>
                <a:latin typeface="Calibri"/>
              </a:rPr>
              <a:t>“My Nexa X1 screen inputs are delayed and the touch responsiveness is laggy.”</a:t>
            </a:r>
          </a:p>
        </p:txBody>
      </p:sp>
      <p:sp>
        <p:nvSpPr>
          <p:cNvPr id="106" name="Rounded Rectangle 105"/>
          <p:cNvSpPr/>
          <p:nvPr/>
        </p:nvSpPr>
        <p:spPr>
          <a:xfrm>
            <a:off x="841248" y="3456432"/>
            <a:ext cx="4937760" cy="84124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1024128" y="3547872"/>
            <a:ext cx="4572000" cy="685800"/>
          </a:xfrm>
          <a:prstGeom prst="rect">
            <a:avLst/>
          </a:prstGeom>
          <a:noFill/>
        </p:spPr>
        <p:txBody>
          <a:bodyPr wrap="square" lIns="0" tIns="18288" rIns="0" bIns="18288" anchor="ctr">
            <a:spAutoFit/>
          </a:bodyPr>
          <a:lstStyle/>
          <a:p>
            <a:pPr algn="l">
              <a:spcAft>
                <a:spcPts val="400"/>
              </a:spcAft>
            </a:pPr>
            <a:r>
              <a:rPr sz="1300" b="0">
                <a:solidFill>
                  <a:srgbClr val="111827"/>
                </a:solidFill>
                <a:latin typeface="Calibri"/>
              </a:rPr>
              <a:t>“My smartphone's screen is completely cracked.”</a:t>
            </a:r>
          </a:p>
        </p:txBody>
      </p:sp>
      <p:sp>
        <p:nvSpPr>
          <p:cNvPr id="108" name="Rounded Rectangle 107"/>
          <p:cNvSpPr/>
          <p:nvPr/>
        </p:nvSpPr>
        <p:spPr>
          <a:xfrm>
            <a:off x="841248" y="4443984"/>
            <a:ext cx="4937760" cy="84124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1024128" y="4535424"/>
            <a:ext cx="4572000" cy="685800"/>
          </a:xfrm>
          <a:prstGeom prst="rect">
            <a:avLst/>
          </a:prstGeom>
          <a:noFill/>
        </p:spPr>
        <p:txBody>
          <a:bodyPr wrap="square" lIns="0" tIns="18288" rIns="0" bIns="18288" anchor="ctr">
            <a:spAutoFit/>
          </a:bodyPr>
          <a:lstStyle/>
          <a:p>
            <a:pPr algn="l">
              <a:spcAft>
                <a:spcPts val="400"/>
              </a:spcAft>
            </a:pPr>
            <a:r>
              <a:rPr sz="1300" b="0">
                <a:solidFill>
                  <a:srgbClr val="111827"/>
                </a:solidFill>
                <a:latin typeface="Calibri"/>
              </a:rPr>
              <a:t>“My Nexa X1 Ultra screen is completely black and won't turn on.”</a:t>
            </a:r>
          </a:p>
        </p:txBody>
      </p:sp>
      <p:cxnSp>
        <p:nvCxnSpPr>
          <p:cNvPr id="110" name="Connector 109"/>
          <p:cNvCxnSpPr/>
          <p:nvPr/>
        </p:nvCxnSpPr>
        <p:spPr>
          <a:xfrm>
            <a:off x="5943600" y="3886200"/>
            <a:ext cx="685800" cy="0"/>
          </a:xfrm>
          <a:prstGeom prst="line">
            <a:avLst/>
          </a:prstGeom>
          <a:ln w="381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1" name="Rounded Rectangle 110"/>
          <p:cNvSpPr/>
          <p:nvPr/>
        </p:nvSpPr>
        <p:spPr>
          <a:xfrm>
            <a:off x="6812280" y="2057400"/>
            <a:ext cx="4526280" cy="3337560"/>
          </a:xfrm>
          <a:prstGeom prst="roundRect">
            <a:avLst>
              <a:gd name="adj" fmla="val 8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7040880" y="2194560"/>
            <a:ext cx="4114800" cy="548640"/>
          </a:xfrm>
          <a:prstGeom prst="rect">
            <a:avLst/>
          </a:prstGeom>
          <a:noFill/>
        </p:spPr>
        <p:txBody>
          <a:bodyPr wrap="square" lIns="0" tIns="18288" rIns="0" bIns="18288" anchor="t">
            <a:spAutoFit/>
          </a:bodyPr>
          <a:lstStyle/>
          <a:p>
            <a:pPr algn="l">
              <a:spcAft>
                <a:spcPts val="400"/>
              </a:spcAft>
            </a:pPr>
            <a:r>
              <a:rPr sz="1200" b="1">
                <a:solidFill>
                  <a:srgbClr val="4B5563"/>
                </a:solidFill>
                <a:latin typeface="Calibri"/>
              </a:rPr>
              <a:t>What the engine sends back</a:t>
            </a:r>
          </a:p>
          <a:p>
            <a:pPr algn="l">
              <a:spcAft>
                <a:spcPts val="400"/>
              </a:spcAft>
            </a:pPr>
            <a:r>
              <a:rPr sz="1400" b="1">
                <a:solidFill>
                  <a:srgbClr val="111827"/>
                </a:solidFill>
                <a:latin typeface="Calibri"/>
              </a:rPr>
              <a:t>Follow these steps to perform this Touchscreen Troubleshooting</a:t>
            </a:r>
          </a:p>
        </p:txBody>
      </p:sp>
      <p:sp>
        <p:nvSpPr>
          <p:cNvPr id="113" name="Rounded Rectangle 112"/>
          <p:cNvSpPr/>
          <p:nvPr/>
        </p:nvSpPr>
        <p:spPr>
          <a:xfrm>
            <a:off x="7040880" y="3200400"/>
            <a:ext cx="868680" cy="27432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auto</a:t>
            </a:r>
          </a:p>
        </p:txBody>
      </p:sp>
      <p:sp>
        <p:nvSpPr>
          <p:cNvPr id="114" name="TextBox 113"/>
          <p:cNvSpPr txBox="1"/>
          <p:nvPr/>
        </p:nvSpPr>
        <p:spPr>
          <a:xfrm>
            <a:off x="8046720" y="3136392"/>
            <a:ext cx="3200400" cy="6400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Enable Touch Sensitivity</a:t>
            </a:r>
          </a:p>
          <a:p>
            <a:pPr algn="l">
              <a:spcAft>
                <a:spcPts val="400"/>
              </a:spcAft>
            </a:pPr>
            <a:r>
              <a:rPr sz="1100" b="0">
                <a:solidFill>
                  <a:srgbClr val="4B5563"/>
                </a:solidFill>
                <a:latin typeface="Consolas"/>
              </a:rPr>
              <a:t>voiceassist://masked/act/14eb42b895</a:t>
            </a:r>
          </a:p>
        </p:txBody>
      </p:sp>
      <p:sp>
        <p:nvSpPr>
          <p:cNvPr id="115" name="Rounded Rectangle 114"/>
          <p:cNvSpPr/>
          <p:nvPr/>
        </p:nvSpPr>
        <p:spPr>
          <a:xfrm>
            <a:off x="7040880" y="3913632"/>
            <a:ext cx="868680" cy="27432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manual</a:t>
            </a:r>
          </a:p>
        </p:txBody>
      </p:sp>
      <p:sp>
        <p:nvSpPr>
          <p:cNvPr id="116" name="TextBox 115"/>
          <p:cNvSpPr txBox="1"/>
          <p:nvPr/>
        </p:nvSpPr>
        <p:spPr>
          <a:xfrm>
            <a:off x="8046720" y="3849624"/>
            <a:ext cx="3200400" cy="6400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Check the Charger</a:t>
            </a:r>
          </a:p>
          <a:p>
            <a:pPr algn="l">
              <a:spcAft>
                <a:spcPts val="400"/>
              </a:spcAft>
            </a:pPr>
            <a:r>
              <a:rPr sz="1100" b="0">
                <a:solidFill>
                  <a:srgbClr val="4B5563"/>
                </a:solidFill>
                <a:latin typeface="Calibri"/>
              </a:rPr>
              <a:t>no link, done by hand</a:t>
            </a:r>
          </a:p>
        </p:txBody>
      </p:sp>
      <p:sp>
        <p:nvSpPr>
          <p:cNvPr id="117" name="Rounded Rectangle 116"/>
          <p:cNvSpPr/>
          <p:nvPr/>
        </p:nvSpPr>
        <p:spPr>
          <a:xfrm>
            <a:off x="7040880" y="4626864"/>
            <a:ext cx="868680" cy="274320"/>
          </a:xfrm>
          <a:prstGeom prst="roundRect">
            <a:avLst>
              <a:gd name="adj" fmla="val 5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critical</a:t>
            </a:r>
          </a:p>
        </p:txBody>
      </p:sp>
      <p:sp>
        <p:nvSpPr>
          <p:cNvPr id="118" name="TextBox 117"/>
          <p:cNvSpPr txBox="1"/>
          <p:nvPr/>
        </p:nvSpPr>
        <p:spPr>
          <a:xfrm>
            <a:off x="8046720" y="4562856"/>
            <a:ext cx="3200400" cy="6400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Restart in Safe Mode</a:t>
            </a:r>
          </a:p>
          <a:p>
            <a:pPr algn="l">
              <a:spcAft>
                <a:spcPts val="400"/>
              </a:spcAft>
            </a:pPr>
            <a:r>
              <a:rPr sz="1100" b="0">
                <a:solidFill>
                  <a:srgbClr val="4B5563"/>
                </a:solidFill>
                <a:latin typeface="Calibri"/>
              </a:rPr>
              <a:t>unlocked only if the rest fails</a:t>
            </a:r>
          </a:p>
        </p:txBody>
      </p:sp>
      <p:sp>
        <p:nvSpPr>
          <p:cNvPr id="119" name="TextBox 118"/>
          <p:cNvSpPr txBox="1"/>
          <p:nvPr/>
        </p:nvSpPr>
        <p:spPr>
          <a:xfrm>
            <a:off x="841248" y="5623560"/>
            <a:ext cx="10515600" cy="731520"/>
          </a:xfrm>
          <a:prstGeom prst="rect">
            <a:avLst/>
          </a:prstGeom>
          <a:noFill/>
        </p:spPr>
        <p:txBody>
          <a:bodyPr wrap="square" lIns="0" tIns="18288" rIns="0" bIns="18288" anchor="t">
            <a:spAutoFit/>
          </a:bodyPr>
          <a:lstStyle/>
          <a:p>
            <a:pPr algn="l">
              <a:spcAft>
                <a:spcPts val="400"/>
              </a:spcAft>
            </a:pPr>
            <a:r>
              <a:rPr sz="1400" b="0">
                <a:solidFill>
                  <a:srgbClr val="4B5563"/>
                </a:solidFill>
                <a:latin typeface="Calibri"/>
              </a:rPr>
              <a:t>Goal: a vague complaint in, an ordered plan out, where every Settings step opens in one tap. Today that takes an agent ~15 minutes per ticket. The brief asks for &lt; 300 ms on known issues and &lt; 8 s on new 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Existing Solutions &amp; Gaps</a:t>
            </a:r>
            <a:endParaRPr/>
          </a:p>
        </p:txBody>
      </p:sp>
      <p:sp>
        <p:nvSpPr>
          <p:cNvPr id="108" name="TextBox 107"/>
          <p:cNvSpPr txBox="1"/>
          <p:nvPr/>
        </p:nvSpPr>
        <p:spPr>
          <a:xfrm>
            <a:off x="841248" y="1645920"/>
            <a:ext cx="3566160" cy="365760"/>
          </a:xfrm>
          <a:prstGeom prst="rect">
            <a:avLst/>
          </a:prstGeom>
          <a:noFill/>
        </p:spPr>
        <p:txBody>
          <a:bodyPr wrap="square" lIns="0" tIns="18288" rIns="0" bIns="18288" anchor="t">
            <a:spAutoFit/>
          </a:bodyPr>
          <a:lstStyle/>
          <a:p>
            <a:pPr algn="l">
              <a:spcAft>
                <a:spcPts val="400"/>
              </a:spcAft>
            </a:pPr>
            <a:r>
              <a:rPr sz="1600" b="1">
                <a:solidFill>
                  <a:srgbClr val="1428A0"/>
                </a:solidFill>
                <a:latin typeface="Calibri"/>
              </a:rPr>
              <a:t>How it's done today</a:t>
            </a:r>
          </a:p>
        </p:txBody>
      </p:sp>
      <p:sp>
        <p:nvSpPr>
          <p:cNvPr id="109" name="Oval 108"/>
          <p:cNvSpPr/>
          <p:nvPr/>
        </p:nvSpPr>
        <p:spPr>
          <a:xfrm>
            <a:off x="841248" y="2148840"/>
            <a:ext cx="457200" cy="45720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110" name="TextBox 109"/>
          <p:cNvSpPr txBox="1"/>
          <p:nvPr/>
        </p:nvSpPr>
        <p:spPr>
          <a:xfrm>
            <a:off x="1417320" y="2103120"/>
            <a:ext cx="3017520" cy="8686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Agent reads the SIIS article</a:t>
            </a:r>
          </a:p>
          <a:p>
            <a:pPr algn="l">
              <a:spcAft>
                <a:spcPts val="400"/>
              </a:spcAft>
            </a:pPr>
            <a:r>
              <a:rPr sz="1200" b="0">
                <a:solidFill>
                  <a:srgbClr val="4B5563"/>
                </a:solidFill>
                <a:latin typeface="Calibri"/>
              </a:rPr>
              <a:t>long help pages, half of it background</a:t>
            </a:r>
          </a:p>
        </p:txBody>
      </p:sp>
      <p:sp>
        <p:nvSpPr>
          <p:cNvPr id="111" name="Oval 110"/>
          <p:cNvSpPr/>
          <p:nvPr/>
        </p:nvSpPr>
        <p:spPr>
          <a:xfrm>
            <a:off x="841248" y="3154680"/>
            <a:ext cx="457200" cy="45720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112" name="TextBox 111"/>
          <p:cNvSpPr txBox="1"/>
          <p:nvPr/>
        </p:nvSpPr>
        <p:spPr>
          <a:xfrm>
            <a:off x="1417320" y="3108960"/>
            <a:ext cx="3017520" cy="8686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Picks and orders steps by hand</a:t>
            </a:r>
          </a:p>
          <a:p>
            <a:pPr algn="l">
              <a:spcAft>
                <a:spcPts val="400"/>
              </a:spcAft>
            </a:pPr>
            <a:r>
              <a:rPr sz="1200" b="0">
                <a:solidFill>
                  <a:srgbClr val="4B5563"/>
                </a:solidFill>
                <a:latin typeface="Calibri"/>
              </a:rPr>
              <a:t>different agents, different answers</a:t>
            </a:r>
          </a:p>
        </p:txBody>
      </p:sp>
      <p:sp>
        <p:nvSpPr>
          <p:cNvPr id="113" name="Oval 112"/>
          <p:cNvSpPr/>
          <p:nvPr/>
        </p:nvSpPr>
        <p:spPr>
          <a:xfrm>
            <a:off x="841248" y="4160520"/>
            <a:ext cx="457200" cy="45720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114" name="TextBox 113"/>
          <p:cNvSpPr txBox="1"/>
          <p:nvPr/>
        </p:nvSpPr>
        <p:spPr>
          <a:xfrm>
            <a:off x="1417320" y="4114800"/>
            <a:ext cx="3017520" cy="868680"/>
          </a:xfrm>
          <a:prstGeom prst="rect">
            <a:avLst/>
          </a:prstGeom>
          <a:noFill/>
        </p:spPr>
        <p:txBody>
          <a:bodyPr wrap="square" lIns="0" tIns="18288" rIns="0" bIns="18288" anchor="t">
            <a:spAutoFit/>
          </a:bodyPr>
          <a:lstStyle/>
          <a:p>
            <a:pPr algn="l">
              <a:spcAft>
                <a:spcPts val="400"/>
              </a:spcAft>
            </a:pPr>
            <a:r>
              <a:rPr sz="1400" b="1">
                <a:solidFill>
                  <a:srgbClr val="111827"/>
                </a:solidFill>
                <a:latin typeface="Calibri"/>
              </a:rPr>
              <a:t>Customer digs through menus</a:t>
            </a:r>
          </a:p>
          <a:p>
            <a:pPr algn="l">
              <a:spcAft>
                <a:spcPts val="400"/>
              </a:spcAft>
            </a:pPr>
            <a:r>
              <a:rPr sz="1200" b="0">
                <a:solidFill>
                  <a:srgbClr val="4B5563"/>
                </a:solidFill>
                <a:latin typeface="Calibri"/>
              </a:rPr>
              <a:t>Settings &gt; Display &gt; Navigation bar</a:t>
            </a:r>
          </a:p>
        </p:txBody>
      </p:sp>
      <p:sp>
        <p:nvSpPr>
          <p:cNvPr id="115" name="Rounded Rectangle 114"/>
          <p:cNvSpPr/>
          <p:nvPr/>
        </p:nvSpPr>
        <p:spPr>
          <a:xfrm>
            <a:off x="841248" y="5212080"/>
            <a:ext cx="3566160" cy="9601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1005840" y="5285232"/>
            <a:ext cx="3291840" cy="822960"/>
          </a:xfrm>
          <a:prstGeom prst="rect">
            <a:avLst/>
          </a:prstGeom>
          <a:noFill/>
        </p:spPr>
        <p:txBody>
          <a:bodyPr wrap="square" lIns="0" tIns="18288" rIns="0" bIns="18288" anchor="t">
            <a:spAutoFit/>
          </a:bodyPr>
          <a:lstStyle/>
          <a:p>
            <a:pPr algn="l">
              <a:spcAft>
                <a:spcPts val="400"/>
              </a:spcAft>
            </a:pPr>
            <a:r>
              <a:rPr sz="2600" b="1">
                <a:solidFill>
                  <a:srgbClr val="1428A0"/>
                </a:solidFill>
                <a:latin typeface="Calibri"/>
              </a:rPr>
              <a:t>~15 min</a:t>
            </a:r>
          </a:p>
          <a:p>
            <a:pPr algn="l">
              <a:spcAft>
                <a:spcPts val="400"/>
              </a:spcAft>
            </a:pPr>
            <a:r>
              <a:rPr sz="1200" b="0">
                <a:solidFill>
                  <a:srgbClr val="4B5563"/>
                </a:solidFill>
                <a:latin typeface="Calibri"/>
              </a:rPr>
              <a:t>per ticket, per the brief</a:t>
            </a:r>
          </a:p>
        </p:txBody>
      </p:sp>
      <p:sp>
        <p:nvSpPr>
          <p:cNvPr id="117" name="TextBox 116"/>
          <p:cNvSpPr txBox="1"/>
          <p:nvPr/>
        </p:nvSpPr>
        <p:spPr>
          <a:xfrm>
            <a:off x="4800600" y="1645920"/>
            <a:ext cx="6583680" cy="365760"/>
          </a:xfrm>
          <a:prstGeom prst="rect">
            <a:avLst/>
          </a:prstGeom>
          <a:noFill/>
        </p:spPr>
        <p:txBody>
          <a:bodyPr wrap="square" lIns="0" tIns="18288" rIns="0" bIns="18288" anchor="t">
            <a:spAutoFit/>
          </a:bodyPr>
          <a:lstStyle/>
          <a:p>
            <a:pPr algn="l">
              <a:spcAft>
                <a:spcPts val="400"/>
              </a:spcAft>
            </a:pPr>
            <a:r>
              <a:rPr sz="1600" b="1">
                <a:solidFill>
                  <a:srgbClr val="1428A0"/>
                </a:solidFill>
                <a:latin typeface="Calibri"/>
              </a:rPr>
              <a:t>What we found missing</a:t>
            </a:r>
          </a:p>
        </p:txBody>
      </p:sp>
      <p:graphicFrame>
        <p:nvGraphicFramePr>
          <p:cNvPr id="118" name="Table 117"/>
          <p:cNvGraphicFramePr>
            <a:graphicFrameLocks noGrp="1"/>
          </p:cNvGraphicFramePr>
          <p:nvPr/>
        </p:nvGraphicFramePr>
        <p:xfrm>
          <a:off x="4800600" y="2103120"/>
          <a:ext cx="6583680" cy="3675888"/>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5349240">
                  <a:extLst>
                    <a:ext uri="{9D8B030D-6E8A-4147-A177-3AD203B41FA5}">
                      <a16:colId xmlns:a16="http://schemas.microsoft.com/office/drawing/2014/main" val="20001"/>
                    </a:ext>
                  </a:extLst>
                </a:gridCol>
              </a:tblGrid>
              <a:tr h="384048">
                <a:tc>
                  <a:txBody>
                    <a:bodyPr/>
                    <a:lstStyle/>
                    <a:p>
                      <a:r>
                        <a:rPr sz="1200" b="1">
                          <a:solidFill>
                            <a:srgbClr val="FFFFFF"/>
                          </a:solidFill>
                          <a:latin typeface="Calibri"/>
                        </a:rPr>
                        <a:t>Where</a:t>
                      </a:r>
                    </a:p>
                  </a:txBody>
                  <a:tcPr>
                    <a:solidFill>
                      <a:srgbClr val="1428A0"/>
                    </a:solidFill>
                  </a:tcPr>
                </a:tc>
                <a:tc>
                  <a:txBody>
                    <a:bodyPr/>
                    <a:lstStyle/>
                    <a:p>
                      <a:r>
                        <a:rPr sz="1200" b="1">
                          <a:solidFill>
                            <a:srgbClr val="FFFFFF"/>
                          </a:solidFill>
                          <a:latin typeface="Calibri"/>
                        </a:rPr>
                        <a:t>Gap</a:t>
                      </a:r>
                    </a:p>
                  </a:txBody>
                  <a:tcPr>
                    <a:solidFill>
                      <a:srgbClr val="1428A0"/>
                    </a:solidFill>
                  </a:tcPr>
                </a:tc>
                <a:extLst>
                  <a:ext uri="{0D108BD9-81ED-4DB2-BD59-A6C34878D82A}">
                    <a16:rowId xmlns:a16="http://schemas.microsoft.com/office/drawing/2014/main" val="10000"/>
                  </a:ext>
                </a:extLst>
              </a:tr>
              <a:tr h="548640">
                <a:tc>
                  <a:txBody>
                    <a:bodyPr/>
                    <a:lstStyle/>
                    <a:p>
                      <a:r>
                        <a:rPr sz="1200" b="1">
                          <a:solidFill>
                            <a:srgbClr val="4B5563"/>
                          </a:solidFill>
                          <a:latin typeface="Calibri"/>
                        </a:rPr>
                        <a:t>Brief</a:t>
                      </a:r>
                    </a:p>
                  </a:txBody>
                  <a:tcPr>
                    <a:solidFill>
                      <a:srgbClr val="FFFFFF"/>
                    </a:solidFill>
                  </a:tcPr>
                </a:tc>
                <a:tc>
                  <a:txBody>
                    <a:bodyPr/>
                    <a:lstStyle/>
                    <a:p>
                      <a:r>
                        <a:rPr sz="1200" b="0">
                          <a:solidFill>
                            <a:srgbClr val="111827"/>
                          </a:solidFill>
                          <a:latin typeface="Calibri"/>
                        </a:rPr>
                        <a:t>validationDeeplink exists in the schema, but nothing says how to fill it, so no one checks the fix worked</a:t>
                      </a:r>
                    </a:p>
                  </a:txBody>
                  <a:tcPr>
                    <a:solidFill>
                      <a:srgbClr val="FFFFFF"/>
                    </a:solidFill>
                  </a:tcPr>
                </a:tc>
                <a:extLst>
                  <a:ext uri="{0D108BD9-81ED-4DB2-BD59-A6C34878D82A}">
                    <a16:rowId xmlns:a16="http://schemas.microsoft.com/office/drawing/2014/main" val="10001"/>
                  </a:ext>
                </a:extLst>
              </a:tr>
              <a:tr h="548640">
                <a:tc>
                  <a:txBody>
                    <a:bodyPr/>
                    <a:lstStyle/>
                    <a:p>
                      <a:r>
                        <a:rPr sz="1200" b="1">
                          <a:solidFill>
                            <a:srgbClr val="4B5563"/>
                          </a:solidFill>
                          <a:latin typeface="Calibri"/>
                        </a:rPr>
                        <a:t>Brief</a:t>
                      </a:r>
                    </a:p>
                  </a:txBody>
                  <a:tcPr>
                    <a:solidFill>
                      <a:srgbClr val="F3F4F6"/>
                    </a:solidFill>
                  </a:tcPr>
                </a:tc>
                <a:tc>
                  <a:txBody>
                    <a:bodyPr/>
                    <a:lstStyle/>
                    <a:p>
                      <a:r>
                        <a:rPr sz="1200" b="0">
                          <a:solidFill>
                            <a:srgbClr val="111827"/>
                          </a:solidFill>
                          <a:latin typeface="Calibri"/>
                        </a:rPr>
                        <a:t>“Return empty if no viable fix” is never defined, and a search always returns something</a:t>
                      </a:r>
                    </a:p>
                  </a:txBody>
                  <a:tcPr>
                    <a:solidFill>
                      <a:srgbClr val="F3F4F6"/>
                    </a:solidFill>
                  </a:tcPr>
                </a:tc>
                <a:extLst>
                  <a:ext uri="{0D108BD9-81ED-4DB2-BD59-A6C34878D82A}">
                    <a16:rowId xmlns:a16="http://schemas.microsoft.com/office/drawing/2014/main" val="10002"/>
                  </a:ext>
                </a:extLst>
              </a:tr>
              <a:tr h="548640">
                <a:tc>
                  <a:txBody>
                    <a:bodyPr/>
                    <a:lstStyle/>
                    <a:p>
                      <a:r>
                        <a:rPr sz="1200" b="1">
                          <a:solidFill>
                            <a:srgbClr val="4B5563"/>
                          </a:solidFill>
                          <a:latin typeface="Calibri"/>
                        </a:rPr>
                        <a:t>Brief</a:t>
                      </a:r>
                    </a:p>
                  </a:txBody>
                  <a:tcPr>
                    <a:solidFill>
                      <a:srgbClr val="FFFFFF"/>
                    </a:solidFill>
                  </a:tcPr>
                </a:tc>
                <a:tc>
                  <a:txBody>
                    <a:bodyPr/>
                    <a:lstStyle/>
                    <a:p>
                      <a:r>
                        <a:rPr sz="1200" b="0">
                          <a:solidFill>
                            <a:srgbClr val="111827"/>
                          </a:solidFill>
                          <a:latin typeface="Calibri"/>
                        </a:rPr>
                        <a:t>One problem per message is assumed. One kit complaint has three</a:t>
                      </a:r>
                    </a:p>
                  </a:txBody>
                  <a:tcPr>
                    <a:solidFill>
                      <a:srgbClr val="FFFFFF"/>
                    </a:solidFill>
                  </a:tcPr>
                </a:tc>
                <a:extLst>
                  <a:ext uri="{0D108BD9-81ED-4DB2-BD59-A6C34878D82A}">
                    <a16:rowId xmlns:a16="http://schemas.microsoft.com/office/drawing/2014/main" val="10003"/>
                  </a:ext>
                </a:extLst>
              </a:tr>
              <a:tr h="548640">
                <a:tc>
                  <a:txBody>
                    <a:bodyPr/>
                    <a:lstStyle/>
                    <a:p>
                      <a:r>
                        <a:rPr sz="1200" b="1">
                          <a:solidFill>
                            <a:srgbClr val="4B5563"/>
                          </a:solidFill>
                          <a:latin typeface="Calibri"/>
                        </a:rPr>
                        <a:t>Brief</a:t>
                      </a:r>
                    </a:p>
                  </a:txBody>
                  <a:tcPr>
                    <a:solidFill>
                      <a:srgbClr val="F3F4F6"/>
                    </a:solidFill>
                  </a:tcPr>
                </a:tc>
                <a:tc>
                  <a:txBody>
                    <a:bodyPr/>
                    <a:lstStyle/>
                    <a:p>
                      <a:r>
                        <a:rPr sz="1200" b="0">
                          <a:solidFill>
                            <a:srgbClr val="111827"/>
                          </a:solidFill>
                          <a:latin typeface="Calibri"/>
                        </a:rPr>
                        <a:t>A wrong plan in the cache is served to every paraphrase of it</a:t>
                      </a:r>
                    </a:p>
                  </a:txBody>
                  <a:tcPr>
                    <a:solidFill>
                      <a:srgbClr val="F3F4F6"/>
                    </a:solidFill>
                  </a:tcPr>
                </a:tc>
                <a:extLst>
                  <a:ext uri="{0D108BD9-81ED-4DB2-BD59-A6C34878D82A}">
                    <a16:rowId xmlns:a16="http://schemas.microsoft.com/office/drawing/2014/main" val="10004"/>
                  </a:ext>
                </a:extLst>
              </a:tr>
              <a:tr h="548640">
                <a:tc>
                  <a:txBody>
                    <a:bodyPr/>
                    <a:lstStyle/>
                    <a:p>
                      <a:r>
                        <a:rPr sz="1200" b="1">
                          <a:solidFill>
                            <a:srgbClr val="4B5563"/>
                          </a:solidFill>
                          <a:latin typeface="Calibri"/>
                        </a:rPr>
                        <a:t>Starter code</a:t>
                      </a:r>
                    </a:p>
                  </a:txBody>
                  <a:tcPr>
                    <a:solidFill>
                      <a:srgbClr val="FFFFFF"/>
                    </a:solidFill>
                  </a:tcPr>
                </a:tc>
                <a:tc>
                  <a:txBody>
                    <a:bodyPr/>
                    <a:lstStyle/>
                    <a:p>
                      <a:r>
                        <a:rPr sz="1200" b="0">
                          <a:solidFill>
                            <a:srgbClr val="111827"/>
                          </a:solidFill>
                          <a:latin typeface="Calibri"/>
                        </a:rPr>
                        <a:t>Titles cut to 3 words (“Some things to”), factory reset marked as a one-tap step</a:t>
                      </a:r>
                    </a:p>
                  </a:txBody>
                  <a:tcPr>
                    <a:solidFill>
                      <a:srgbClr val="FFFFFF"/>
                    </a:solidFill>
                  </a:tcPr>
                </a:tc>
                <a:extLst>
                  <a:ext uri="{0D108BD9-81ED-4DB2-BD59-A6C34878D82A}">
                    <a16:rowId xmlns:a16="http://schemas.microsoft.com/office/drawing/2014/main" val="10005"/>
                  </a:ext>
                </a:extLst>
              </a:tr>
              <a:tr h="548640">
                <a:tc>
                  <a:txBody>
                    <a:bodyPr/>
                    <a:lstStyle/>
                    <a:p>
                      <a:r>
                        <a:rPr sz="1200" b="1">
                          <a:solidFill>
                            <a:srgbClr val="4B5563"/>
                          </a:solidFill>
                          <a:latin typeface="Calibri"/>
                        </a:rPr>
                        <a:t>Starter code</a:t>
                      </a:r>
                    </a:p>
                  </a:txBody>
                  <a:tcPr>
                    <a:solidFill>
                      <a:srgbClr val="F3F4F6"/>
                    </a:solidFill>
                  </a:tcPr>
                </a:tc>
                <a:tc>
                  <a:txBody>
                    <a:bodyPr/>
                    <a:lstStyle/>
                    <a:p>
                      <a:r>
                        <a:rPr sz="1200" b="0">
                          <a:solidFill>
                            <a:srgbClr val="111827"/>
                          </a:solidFill>
                          <a:latin typeface="Calibri"/>
                        </a:rPr>
                        <a:t>Rule compliance 5%, 0% cache hits on real rephrasings</a:t>
                      </a:r>
                    </a:p>
                  </a:txBody>
                  <a:tcPr>
                    <a:solidFill>
                      <a:srgbClr val="F3F4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909917" y="26651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Our Solutions &amp; Architecture Diagram</a:t>
            </a:r>
            <a:endParaRPr/>
          </a:p>
        </p:txBody>
      </p:sp>
      <p:pic>
        <p:nvPicPr>
          <p:cNvPr id="114" name="Picture 113" descr="system_architecture.png"/>
          <p:cNvPicPr>
            <a:picLocks noChangeAspect="1"/>
          </p:cNvPicPr>
          <p:nvPr/>
        </p:nvPicPr>
        <p:blipFill>
          <a:blip r:embed="rId3"/>
          <a:stretch>
            <a:fillRect/>
          </a:stretch>
        </p:blipFill>
        <p:spPr>
          <a:xfrm>
            <a:off x="841248" y="1572768"/>
            <a:ext cx="10515600" cy="4699159"/>
          </a:xfrm>
          <a:prstGeom prst="rect">
            <a:avLst/>
          </a:prstGeom>
        </p:spPr>
      </p:pic>
      <p:sp>
        <p:nvSpPr>
          <p:cNvPr id="115" name="TextBox 114"/>
          <p:cNvSpPr txBox="1"/>
          <p:nvPr/>
        </p:nvSpPr>
        <p:spPr>
          <a:xfrm>
            <a:off x="841248" y="6400800"/>
            <a:ext cx="10515600" cy="320040"/>
          </a:xfrm>
          <a:prstGeom prst="rect">
            <a:avLst/>
          </a:prstGeom>
          <a:noFill/>
        </p:spPr>
        <p:txBody>
          <a:bodyPr wrap="square" lIns="0" tIns="18288" rIns="0" bIns="18288" anchor="t">
            <a:spAutoFit/>
          </a:bodyPr>
          <a:lstStyle/>
          <a:p>
            <a:pPr algn="l">
              <a:spcAft>
                <a:spcPts val="400"/>
              </a:spcAft>
            </a:pPr>
            <a:r>
              <a:rPr sz="1200" b="0">
                <a:solidFill>
                  <a:srgbClr val="4B5563"/>
                </a:solidFill>
                <a:latin typeface="Calibri"/>
              </a:rPr>
              <a:t>Offline by default: a new complaint takes ~30 ms, a cached one ~2 ms. The LLM is optional and never gets the last word: its output goes through the same checks.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Demo &amp; Product Walkthrough</a:t>
            </a:r>
            <a:endParaRPr/>
          </a:p>
        </p:txBody>
      </p:sp>
      <p:pic>
        <p:nvPicPr>
          <p:cNvPr id="120" name="Picture 119" descr="image.png"/>
          <p:cNvPicPr>
            <a:picLocks noChangeAspect="1"/>
          </p:cNvPicPr>
          <p:nvPr/>
        </p:nvPicPr>
        <p:blipFill>
          <a:blip r:embed="rId3"/>
          <a:stretch>
            <a:fillRect/>
          </a:stretch>
        </p:blipFill>
        <p:spPr>
          <a:xfrm>
            <a:off x="841248" y="1600200"/>
            <a:ext cx="6720840" cy="4200525"/>
          </a:xfrm>
          <a:prstGeom prst="rect">
            <a:avLst/>
          </a:prstGeom>
          <a:ln w="12700">
            <a:solidFill>
              <a:srgbClr val="D1D5DB"/>
            </a:solidFill>
          </a:ln>
        </p:spPr>
      </p:pic>
      <p:pic>
        <p:nvPicPr>
          <p:cNvPr id="121" name="Picture 120" descr="image.png"/>
          <p:cNvPicPr>
            <a:picLocks noChangeAspect="1"/>
          </p:cNvPicPr>
          <p:nvPr/>
        </p:nvPicPr>
        <p:blipFill>
          <a:blip r:embed="rId4"/>
          <a:stretch>
            <a:fillRect/>
          </a:stretch>
        </p:blipFill>
        <p:spPr>
          <a:xfrm>
            <a:off x="7818120" y="1600200"/>
            <a:ext cx="3566160" cy="2228850"/>
          </a:xfrm>
          <a:prstGeom prst="rect">
            <a:avLst/>
          </a:prstGeom>
          <a:ln w="12700">
            <a:solidFill>
              <a:srgbClr val="D1D5DB"/>
            </a:solidFill>
          </a:ln>
        </p:spPr>
      </p:pic>
      <p:sp>
        <p:nvSpPr>
          <p:cNvPr id="122" name="TextBox 121"/>
          <p:cNvSpPr txBox="1"/>
          <p:nvPr/>
        </p:nvSpPr>
        <p:spPr>
          <a:xfrm>
            <a:off x="7818120" y="3931920"/>
            <a:ext cx="3566160" cy="320040"/>
          </a:xfrm>
          <a:prstGeom prst="rect">
            <a:avLst/>
          </a:prstGeom>
          <a:noFill/>
        </p:spPr>
        <p:txBody>
          <a:bodyPr wrap="square" lIns="0" tIns="18288" rIns="0" bIns="18288" anchor="t">
            <a:spAutoFit/>
          </a:bodyPr>
          <a:lstStyle/>
          <a:p>
            <a:pPr algn="l">
              <a:spcAft>
                <a:spcPts val="400"/>
              </a:spcAft>
            </a:pPr>
            <a:r>
              <a:rPr sz="1100" b="0">
                <a:solidFill>
                  <a:srgbClr val="4B5563"/>
                </a:solidFill>
                <a:latin typeface="Calibri"/>
              </a:rPr>
              <a:t>Trace tab: hover a step, its source sentence lights up</a:t>
            </a:r>
          </a:p>
        </p:txBody>
      </p:sp>
      <p:sp>
        <p:nvSpPr>
          <p:cNvPr id="123" name="Oval 122"/>
          <p:cNvSpPr/>
          <p:nvPr/>
        </p:nvSpPr>
        <p:spPr>
          <a:xfrm>
            <a:off x="7818120" y="4389120"/>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a:t>
            </a:r>
          </a:p>
        </p:txBody>
      </p:sp>
      <p:sp>
        <p:nvSpPr>
          <p:cNvPr id="124" name="TextBox 123"/>
          <p:cNvSpPr txBox="1"/>
          <p:nvPr/>
        </p:nvSpPr>
        <p:spPr>
          <a:xfrm>
            <a:off x="8275320" y="4370832"/>
            <a:ext cx="3108960" cy="457200"/>
          </a:xfrm>
          <a:prstGeom prst="rect">
            <a:avLst/>
          </a:prstGeom>
          <a:noFill/>
        </p:spPr>
        <p:txBody>
          <a:bodyPr wrap="square" lIns="0" tIns="18288" rIns="0" bIns="18288" anchor="ctr">
            <a:spAutoFit/>
          </a:bodyPr>
          <a:lstStyle/>
          <a:p>
            <a:pPr algn="l">
              <a:spcAft>
                <a:spcPts val="400"/>
              </a:spcAft>
            </a:pPr>
            <a:r>
              <a:rPr sz="1200" b="0">
                <a:solidFill>
                  <a:srgbClr val="111827"/>
                </a:solidFill>
                <a:latin typeface="Calibri"/>
              </a:rPr>
              <a:t>Pick a kit complaint (or type one)</a:t>
            </a:r>
          </a:p>
        </p:txBody>
      </p:sp>
      <p:sp>
        <p:nvSpPr>
          <p:cNvPr id="125" name="Oval 124"/>
          <p:cNvSpPr/>
          <p:nvPr/>
        </p:nvSpPr>
        <p:spPr>
          <a:xfrm>
            <a:off x="7818120" y="4864608"/>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2</a:t>
            </a:r>
          </a:p>
        </p:txBody>
      </p:sp>
      <p:sp>
        <p:nvSpPr>
          <p:cNvPr id="126" name="TextBox 125"/>
          <p:cNvSpPr txBox="1"/>
          <p:nvPr/>
        </p:nvSpPr>
        <p:spPr>
          <a:xfrm>
            <a:off x="8275320" y="4846320"/>
            <a:ext cx="3108960" cy="457200"/>
          </a:xfrm>
          <a:prstGeom prst="rect">
            <a:avLst/>
          </a:prstGeom>
          <a:noFill/>
        </p:spPr>
        <p:txBody>
          <a:bodyPr wrap="square" lIns="0" tIns="18288" rIns="0" bIns="18288" anchor="ctr">
            <a:spAutoFit/>
          </a:bodyPr>
          <a:lstStyle/>
          <a:p>
            <a:pPr algn="l">
              <a:spcAft>
                <a:spcPts val="400"/>
              </a:spcAft>
            </a:pPr>
            <a:r>
              <a:rPr sz="1200" b="0">
                <a:solidFill>
                  <a:srgbClr val="111827"/>
                </a:solidFill>
                <a:latin typeface="Calibri"/>
              </a:rPr>
              <a:t>Plan comes back in 3 tiers: phone, by hand, last resort</a:t>
            </a:r>
          </a:p>
        </p:txBody>
      </p:sp>
      <p:sp>
        <p:nvSpPr>
          <p:cNvPr id="127" name="Oval 126"/>
          <p:cNvSpPr/>
          <p:nvPr/>
        </p:nvSpPr>
        <p:spPr>
          <a:xfrm>
            <a:off x="7818120" y="5340096"/>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3</a:t>
            </a:r>
          </a:p>
        </p:txBody>
      </p:sp>
      <p:sp>
        <p:nvSpPr>
          <p:cNvPr id="128" name="TextBox 127"/>
          <p:cNvSpPr txBox="1"/>
          <p:nvPr/>
        </p:nvSpPr>
        <p:spPr>
          <a:xfrm>
            <a:off x="8275320" y="5321808"/>
            <a:ext cx="3108960" cy="457200"/>
          </a:xfrm>
          <a:prstGeom prst="rect">
            <a:avLst/>
          </a:prstGeom>
          <a:noFill/>
        </p:spPr>
        <p:txBody>
          <a:bodyPr wrap="square" lIns="0" tIns="18288" rIns="0" bIns="18288" anchor="ctr">
            <a:spAutoFit/>
          </a:bodyPr>
          <a:lstStyle/>
          <a:p>
            <a:pPr algn="l">
              <a:spcAft>
                <a:spcPts val="400"/>
              </a:spcAft>
            </a:pPr>
            <a:r>
              <a:rPr sz="1200" b="0">
                <a:solidFill>
                  <a:srgbClr val="111827"/>
                </a:solidFill>
                <a:latin typeface="Calibri"/>
              </a:rPr>
              <a:t>Run safe steps: the phone opens each screen and reads the setting back</a:t>
            </a:r>
          </a:p>
        </p:txBody>
      </p:sp>
      <p:sp>
        <p:nvSpPr>
          <p:cNvPr id="129" name="Oval 128"/>
          <p:cNvSpPr/>
          <p:nvPr/>
        </p:nvSpPr>
        <p:spPr>
          <a:xfrm>
            <a:off x="7818120" y="5815583"/>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4</a:t>
            </a:r>
          </a:p>
        </p:txBody>
      </p:sp>
      <p:sp>
        <p:nvSpPr>
          <p:cNvPr id="130" name="TextBox 129"/>
          <p:cNvSpPr txBox="1"/>
          <p:nvPr/>
        </p:nvSpPr>
        <p:spPr>
          <a:xfrm>
            <a:off x="8275320" y="5797296"/>
            <a:ext cx="3108960" cy="457200"/>
          </a:xfrm>
          <a:prstGeom prst="rect">
            <a:avLst/>
          </a:prstGeom>
          <a:noFill/>
        </p:spPr>
        <p:txBody>
          <a:bodyPr wrap="square" lIns="0" tIns="18288" rIns="0" bIns="18288" anchor="ctr">
            <a:spAutoFit/>
          </a:bodyPr>
          <a:lstStyle/>
          <a:p>
            <a:pPr algn="l">
              <a:spcAft>
                <a:spcPts val="400"/>
              </a:spcAft>
            </a:pPr>
            <a:r>
              <a:rPr sz="1200" b="0">
                <a:solidFill>
                  <a:srgbClr val="111827"/>
                </a:solidFill>
                <a:latin typeface="Calibri"/>
              </a:rPr>
              <a:t>Trace + JSON tabs: where every step came from</a:t>
            </a:r>
          </a:p>
        </p:txBody>
      </p:sp>
      <p:sp>
        <p:nvSpPr>
          <p:cNvPr id="131" name="TextBox 130"/>
          <p:cNvSpPr txBox="1"/>
          <p:nvPr/>
        </p:nvSpPr>
        <p:spPr>
          <a:xfrm>
            <a:off x="841248" y="5897880"/>
            <a:ext cx="6720840" cy="457200"/>
          </a:xfrm>
          <a:prstGeom prst="rect">
            <a:avLst/>
          </a:prstGeom>
          <a:noFill/>
        </p:spPr>
        <p:txBody>
          <a:bodyPr wrap="square" lIns="0" tIns="18288" rIns="0" bIns="18288" anchor="t">
            <a:spAutoFit/>
          </a:bodyPr>
          <a:lstStyle/>
          <a:p>
            <a:pPr algn="l">
              <a:spcAft>
                <a:spcPts val="400"/>
              </a:spcAft>
            </a:pPr>
            <a:r>
              <a:rPr sz="1100" b="0">
                <a:solidFill>
                  <a:srgbClr val="4B5563"/>
                </a:solidFill>
                <a:latin typeface="Calibri"/>
              </a:rPr>
              <a:t>Touchscreen complaint with its SIIS article, then Run safe steps. Pages: Troubleshoot, Batch run, Metrics, Gaps.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Tools and tech stack used</a:t>
            </a:r>
            <a:endParaRPr b="1">
              <a:solidFill>
                <a:srgbClr val="704EA6"/>
              </a:solidFill>
            </a:endParaRPr>
          </a:p>
        </p:txBody>
      </p:sp>
      <p:sp>
        <p:nvSpPr>
          <p:cNvPr id="126" name="Rounded Rectangle 125"/>
          <p:cNvSpPr/>
          <p:nvPr/>
        </p:nvSpPr>
        <p:spPr>
          <a:xfrm>
            <a:off x="841248" y="1783080"/>
            <a:ext cx="1993392" cy="30175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1005840" y="1920240"/>
            <a:ext cx="1719072" cy="411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Engine</a:t>
            </a:r>
          </a:p>
        </p:txBody>
      </p:sp>
      <p:sp>
        <p:nvSpPr>
          <p:cNvPr id="128" name="TextBox 127"/>
          <p:cNvSpPr txBox="1"/>
          <p:nvPr/>
        </p:nvSpPr>
        <p:spPr>
          <a:xfrm>
            <a:off x="1005840" y="2423160"/>
            <a:ext cx="1719072" cy="1371600"/>
          </a:xfrm>
          <a:prstGeom prst="rect">
            <a:avLst/>
          </a:prstGeom>
          <a:noFill/>
        </p:spPr>
        <p:txBody>
          <a:bodyPr wrap="square" lIns="0" tIns="18288" rIns="0" bIns="18288" anchor="t">
            <a:spAutoFit/>
          </a:bodyPr>
          <a:lstStyle/>
          <a:p>
            <a:pPr algn="l">
              <a:spcAft>
                <a:spcPts val="400"/>
              </a:spcAft>
            </a:pPr>
            <a:r>
              <a:rPr sz="1400" b="0">
                <a:solidFill>
                  <a:srgbClr val="111827"/>
                </a:solidFill>
                <a:latin typeface="Calibri"/>
              </a:rPr>
              <a:t>Python 3.12</a:t>
            </a:r>
          </a:p>
          <a:p>
            <a:pPr algn="l">
              <a:spcAft>
                <a:spcPts val="400"/>
              </a:spcAft>
            </a:pPr>
            <a:r>
              <a:rPr sz="1400" b="0">
                <a:solidFill>
                  <a:srgbClr val="111827"/>
                </a:solidFill>
                <a:latin typeface="Calibri"/>
              </a:rPr>
              <a:t>FastAPI + Uvicorn</a:t>
            </a:r>
          </a:p>
          <a:p>
            <a:pPr algn="l">
              <a:spcAft>
                <a:spcPts val="400"/>
              </a:spcAft>
            </a:pPr>
            <a:r>
              <a:rPr sz="1200" b="0">
                <a:solidFill>
                  <a:srgbClr val="111827"/>
                </a:solidFill>
                <a:latin typeface="Calibri"/>
              </a:rPr>
              <a:t>Pydantic (kit schema.py)</a:t>
            </a:r>
          </a:p>
        </p:txBody>
      </p:sp>
      <p:sp>
        <p:nvSpPr>
          <p:cNvPr id="129" name="TextBox 128"/>
          <p:cNvSpPr txBox="1"/>
          <p:nvPr/>
        </p:nvSpPr>
        <p:spPr>
          <a:xfrm>
            <a:off x="1005840" y="3840480"/>
            <a:ext cx="1719072" cy="868680"/>
          </a:xfrm>
          <a:prstGeom prst="rect">
            <a:avLst/>
          </a:prstGeom>
          <a:noFill/>
        </p:spPr>
        <p:txBody>
          <a:bodyPr wrap="square" lIns="0" tIns="18288" rIns="0" bIns="18288" anchor="t">
            <a:spAutoFit/>
          </a:bodyPr>
          <a:lstStyle/>
          <a:p>
            <a:pPr algn="l">
              <a:spcAft>
                <a:spcPts val="400"/>
              </a:spcAft>
            </a:pPr>
            <a:r>
              <a:rPr sz="1100" b="1">
                <a:solidFill>
                  <a:srgbClr val="4B5563"/>
                </a:solidFill>
                <a:latin typeface="Calibri"/>
              </a:rPr>
              <a:t>used for</a:t>
            </a:r>
          </a:p>
          <a:p>
            <a:pPr algn="l">
              <a:spcAft>
                <a:spcPts val="400"/>
              </a:spcAft>
            </a:pPr>
            <a:r>
              <a:rPr sz="1200" b="0">
                <a:solidFill>
                  <a:srgbClr val="4B5563"/>
                </a:solidFill>
                <a:latin typeface="Calibri"/>
              </a:rPr>
              <a:t>REST API, validators, simulator</a:t>
            </a:r>
          </a:p>
        </p:txBody>
      </p:sp>
      <p:sp>
        <p:nvSpPr>
          <p:cNvPr id="130" name="Rounded Rectangle 129"/>
          <p:cNvSpPr/>
          <p:nvPr/>
        </p:nvSpPr>
        <p:spPr>
          <a:xfrm>
            <a:off x="2971800" y="1783080"/>
            <a:ext cx="1993392" cy="30175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3136392" y="1920240"/>
            <a:ext cx="1719072" cy="411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Retrieval</a:t>
            </a:r>
          </a:p>
        </p:txBody>
      </p:sp>
      <p:sp>
        <p:nvSpPr>
          <p:cNvPr id="132" name="TextBox 131"/>
          <p:cNvSpPr txBox="1"/>
          <p:nvPr/>
        </p:nvSpPr>
        <p:spPr>
          <a:xfrm>
            <a:off x="3136392" y="2423160"/>
            <a:ext cx="1719072" cy="1371600"/>
          </a:xfrm>
          <a:prstGeom prst="rect">
            <a:avLst/>
          </a:prstGeom>
          <a:noFill/>
        </p:spPr>
        <p:txBody>
          <a:bodyPr wrap="square" lIns="0" tIns="18288" rIns="0" bIns="18288" anchor="t">
            <a:spAutoFit/>
          </a:bodyPr>
          <a:lstStyle/>
          <a:p>
            <a:pPr algn="l">
              <a:spcAft>
                <a:spcPts val="400"/>
              </a:spcAft>
            </a:pPr>
            <a:r>
              <a:rPr sz="1400" b="0">
                <a:solidFill>
                  <a:srgbClr val="111827"/>
                </a:solidFill>
                <a:latin typeface="Calibri"/>
              </a:rPr>
              <a:t>scikit-learn TF-IDF</a:t>
            </a:r>
          </a:p>
          <a:p>
            <a:pPr algn="l">
              <a:spcAft>
                <a:spcPts val="400"/>
              </a:spcAft>
            </a:pPr>
            <a:r>
              <a:rPr sz="1400" b="0">
                <a:solidFill>
                  <a:srgbClr val="111827"/>
                </a:solidFill>
                <a:latin typeface="Calibri"/>
              </a:rPr>
              <a:t>word + char n-grams</a:t>
            </a:r>
          </a:p>
          <a:p>
            <a:pPr algn="l">
              <a:spcAft>
                <a:spcPts val="400"/>
              </a:spcAft>
            </a:pPr>
            <a:r>
              <a:rPr sz="1400" b="0">
                <a:solidFill>
                  <a:srgbClr val="111827"/>
                </a:solidFill>
                <a:latin typeface="Calibri"/>
              </a:rPr>
              <a:t>NumPy / SciPy</a:t>
            </a:r>
          </a:p>
        </p:txBody>
      </p:sp>
      <p:sp>
        <p:nvSpPr>
          <p:cNvPr id="133" name="TextBox 132"/>
          <p:cNvSpPr txBox="1"/>
          <p:nvPr/>
        </p:nvSpPr>
        <p:spPr>
          <a:xfrm>
            <a:off x="3136392" y="3840480"/>
            <a:ext cx="1719072" cy="868680"/>
          </a:xfrm>
          <a:prstGeom prst="rect">
            <a:avLst/>
          </a:prstGeom>
          <a:noFill/>
        </p:spPr>
        <p:txBody>
          <a:bodyPr wrap="square" lIns="0" tIns="18288" rIns="0" bIns="18288" anchor="t">
            <a:spAutoFit/>
          </a:bodyPr>
          <a:lstStyle/>
          <a:p>
            <a:pPr algn="l">
              <a:spcAft>
                <a:spcPts val="400"/>
              </a:spcAft>
            </a:pPr>
            <a:r>
              <a:rPr sz="1100" b="1">
                <a:solidFill>
                  <a:srgbClr val="4B5563"/>
                </a:solidFill>
                <a:latin typeface="Calibri"/>
              </a:rPr>
              <a:t>used for</a:t>
            </a:r>
          </a:p>
          <a:p>
            <a:pPr algn="l">
              <a:spcAft>
                <a:spcPts val="400"/>
              </a:spcAft>
            </a:pPr>
            <a:r>
              <a:rPr sz="1200" b="0">
                <a:solidFill>
                  <a:srgbClr val="4B5563"/>
                </a:solidFill>
                <a:latin typeface="Calibri"/>
              </a:rPr>
              <a:t>SIIS lookup, deeplink map, cache</a:t>
            </a:r>
          </a:p>
        </p:txBody>
      </p:sp>
      <p:sp>
        <p:nvSpPr>
          <p:cNvPr id="134" name="Rounded Rectangle 133"/>
          <p:cNvSpPr/>
          <p:nvPr/>
        </p:nvSpPr>
        <p:spPr>
          <a:xfrm>
            <a:off x="5102352" y="1783080"/>
            <a:ext cx="1993392" cy="30175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5266944" y="1920240"/>
            <a:ext cx="1719072" cy="411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LLM (optional)</a:t>
            </a:r>
          </a:p>
        </p:txBody>
      </p:sp>
      <p:sp>
        <p:nvSpPr>
          <p:cNvPr id="136" name="TextBox 135"/>
          <p:cNvSpPr txBox="1"/>
          <p:nvPr/>
        </p:nvSpPr>
        <p:spPr>
          <a:xfrm>
            <a:off x="5266944" y="2423160"/>
            <a:ext cx="1719072" cy="1371600"/>
          </a:xfrm>
          <a:prstGeom prst="rect">
            <a:avLst/>
          </a:prstGeom>
          <a:noFill/>
        </p:spPr>
        <p:txBody>
          <a:bodyPr wrap="square" lIns="0" tIns="18288" rIns="0" bIns="18288" anchor="t">
            <a:spAutoFit/>
          </a:bodyPr>
          <a:lstStyle/>
          <a:p>
            <a:pPr algn="l">
              <a:spcAft>
                <a:spcPts val="400"/>
              </a:spcAft>
            </a:pPr>
            <a:r>
              <a:rPr sz="1400" b="0">
                <a:solidFill>
                  <a:srgbClr val="111827"/>
                </a:solidFill>
                <a:latin typeface="Calibri"/>
              </a:rPr>
              <a:t>Groq Cloud</a:t>
            </a:r>
          </a:p>
          <a:p>
            <a:pPr algn="l">
              <a:spcAft>
                <a:spcPts val="400"/>
              </a:spcAft>
            </a:pPr>
            <a:r>
              <a:rPr sz="1400" b="0">
                <a:solidFill>
                  <a:srgbClr val="111827"/>
                </a:solidFill>
                <a:latin typeface="Calibri"/>
              </a:rPr>
              <a:t>openai/gpt-oss-120b</a:t>
            </a:r>
          </a:p>
          <a:p>
            <a:pPr algn="l">
              <a:spcAft>
                <a:spcPts val="400"/>
              </a:spcAft>
            </a:pPr>
            <a:r>
              <a:rPr sz="1200" b="0">
                <a:solidFill>
                  <a:srgbClr val="111827"/>
                </a:solidFill>
                <a:latin typeface="Calibri"/>
              </a:rPr>
              <a:t>OpenAI-compatible client</a:t>
            </a:r>
          </a:p>
        </p:txBody>
      </p:sp>
      <p:sp>
        <p:nvSpPr>
          <p:cNvPr id="137" name="TextBox 136"/>
          <p:cNvSpPr txBox="1"/>
          <p:nvPr/>
        </p:nvSpPr>
        <p:spPr>
          <a:xfrm>
            <a:off x="5266944" y="3840480"/>
            <a:ext cx="1719072" cy="868680"/>
          </a:xfrm>
          <a:prstGeom prst="rect">
            <a:avLst/>
          </a:prstGeom>
          <a:noFill/>
        </p:spPr>
        <p:txBody>
          <a:bodyPr wrap="square" lIns="0" tIns="18288" rIns="0" bIns="18288" anchor="t">
            <a:spAutoFit/>
          </a:bodyPr>
          <a:lstStyle/>
          <a:p>
            <a:pPr algn="l">
              <a:spcAft>
                <a:spcPts val="400"/>
              </a:spcAft>
            </a:pPr>
            <a:r>
              <a:rPr sz="1100" b="1">
                <a:solidFill>
                  <a:srgbClr val="4B5563"/>
                </a:solidFill>
                <a:latin typeface="Calibri"/>
              </a:rPr>
              <a:t>used for</a:t>
            </a:r>
          </a:p>
          <a:p>
            <a:pPr algn="l">
              <a:spcAft>
                <a:spcPts val="400"/>
              </a:spcAft>
            </a:pPr>
            <a:r>
              <a:rPr sz="1200" b="0">
                <a:solidFill>
                  <a:srgbClr val="4B5563"/>
                </a:solidFill>
                <a:latin typeface="Calibri"/>
              </a:rPr>
              <a:t>drafts get re-checked, falls back offline</a:t>
            </a:r>
          </a:p>
        </p:txBody>
      </p:sp>
      <p:sp>
        <p:nvSpPr>
          <p:cNvPr id="138" name="Rounded Rectangle 137"/>
          <p:cNvSpPr/>
          <p:nvPr/>
        </p:nvSpPr>
        <p:spPr>
          <a:xfrm>
            <a:off x="7232904" y="1783080"/>
            <a:ext cx="1993392" cy="30175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7397496" y="1920240"/>
            <a:ext cx="1719072" cy="411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Console</a:t>
            </a:r>
          </a:p>
        </p:txBody>
      </p:sp>
      <p:sp>
        <p:nvSpPr>
          <p:cNvPr id="140" name="TextBox 139"/>
          <p:cNvSpPr txBox="1"/>
          <p:nvPr/>
        </p:nvSpPr>
        <p:spPr>
          <a:xfrm>
            <a:off x="7397496" y="2423160"/>
            <a:ext cx="1719072" cy="1371600"/>
          </a:xfrm>
          <a:prstGeom prst="rect">
            <a:avLst/>
          </a:prstGeom>
          <a:noFill/>
        </p:spPr>
        <p:txBody>
          <a:bodyPr wrap="square" lIns="0" tIns="18288" rIns="0" bIns="18288" anchor="t">
            <a:spAutoFit/>
          </a:bodyPr>
          <a:lstStyle/>
          <a:p>
            <a:pPr algn="l">
              <a:spcAft>
                <a:spcPts val="400"/>
              </a:spcAft>
            </a:pPr>
            <a:r>
              <a:rPr sz="1400" b="0">
                <a:solidFill>
                  <a:srgbClr val="111827"/>
                </a:solidFill>
                <a:latin typeface="Calibri"/>
              </a:rPr>
              <a:t>Next.js 16 + React 19</a:t>
            </a:r>
          </a:p>
          <a:p>
            <a:pPr algn="l">
              <a:spcAft>
                <a:spcPts val="400"/>
              </a:spcAft>
            </a:pPr>
            <a:r>
              <a:rPr sz="1400" b="0">
                <a:solidFill>
                  <a:srgbClr val="111827"/>
                </a:solidFill>
                <a:latin typeface="Calibri"/>
              </a:rPr>
              <a:t>Tailwind 4 + shadcn</a:t>
            </a:r>
          </a:p>
          <a:p>
            <a:pPr algn="l">
              <a:spcAft>
                <a:spcPts val="400"/>
              </a:spcAft>
            </a:pPr>
            <a:r>
              <a:rPr sz="1400" b="0">
                <a:solidFill>
                  <a:srgbClr val="111827"/>
                </a:solidFill>
                <a:latin typeface="Calibri"/>
              </a:rPr>
              <a:t>light / dark theme</a:t>
            </a:r>
          </a:p>
        </p:txBody>
      </p:sp>
      <p:sp>
        <p:nvSpPr>
          <p:cNvPr id="141" name="TextBox 140"/>
          <p:cNvSpPr txBox="1"/>
          <p:nvPr/>
        </p:nvSpPr>
        <p:spPr>
          <a:xfrm>
            <a:off x="7397496" y="3840480"/>
            <a:ext cx="1719072" cy="868680"/>
          </a:xfrm>
          <a:prstGeom prst="rect">
            <a:avLst/>
          </a:prstGeom>
          <a:noFill/>
        </p:spPr>
        <p:txBody>
          <a:bodyPr wrap="square" lIns="0" tIns="18288" rIns="0" bIns="18288" anchor="t">
            <a:spAutoFit/>
          </a:bodyPr>
          <a:lstStyle/>
          <a:p>
            <a:pPr algn="l">
              <a:spcAft>
                <a:spcPts val="400"/>
              </a:spcAft>
            </a:pPr>
            <a:r>
              <a:rPr sz="1100" b="1">
                <a:solidFill>
                  <a:srgbClr val="4B5563"/>
                </a:solidFill>
                <a:latin typeface="Calibri"/>
              </a:rPr>
              <a:t>used for</a:t>
            </a:r>
          </a:p>
          <a:p>
            <a:pPr algn="l">
              <a:spcAft>
                <a:spcPts val="400"/>
              </a:spcAft>
            </a:pPr>
            <a:r>
              <a:rPr sz="1200" b="0">
                <a:solidFill>
                  <a:srgbClr val="4B5563"/>
                </a:solidFill>
                <a:latin typeface="Calibri"/>
              </a:rPr>
              <a:t>plan, trace, phone simulator</a:t>
            </a:r>
          </a:p>
        </p:txBody>
      </p:sp>
      <p:sp>
        <p:nvSpPr>
          <p:cNvPr id="142" name="Rounded Rectangle 141"/>
          <p:cNvSpPr/>
          <p:nvPr/>
        </p:nvSpPr>
        <p:spPr>
          <a:xfrm>
            <a:off x="9363456" y="1783080"/>
            <a:ext cx="1993392" cy="30175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9528048" y="1920240"/>
            <a:ext cx="1719072" cy="411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Testing</a:t>
            </a:r>
          </a:p>
        </p:txBody>
      </p:sp>
      <p:sp>
        <p:nvSpPr>
          <p:cNvPr id="144" name="TextBox 143"/>
          <p:cNvSpPr txBox="1"/>
          <p:nvPr/>
        </p:nvSpPr>
        <p:spPr>
          <a:xfrm>
            <a:off x="9528048" y="2423160"/>
            <a:ext cx="1719072" cy="1371600"/>
          </a:xfrm>
          <a:prstGeom prst="rect">
            <a:avLst/>
          </a:prstGeom>
          <a:noFill/>
        </p:spPr>
        <p:txBody>
          <a:bodyPr wrap="square" lIns="0" tIns="18288" rIns="0" bIns="18288" anchor="t">
            <a:spAutoFit/>
          </a:bodyPr>
          <a:lstStyle/>
          <a:p>
            <a:pPr algn="l">
              <a:spcAft>
                <a:spcPts val="400"/>
              </a:spcAft>
            </a:pPr>
            <a:r>
              <a:rPr sz="1400" b="0">
                <a:solidFill>
                  <a:srgbClr val="111827"/>
                </a:solidFill>
                <a:latin typeface="Calibri"/>
              </a:rPr>
              <a:t>pytest</a:t>
            </a:r>
          </a:p>
          <a:p>
            <a:pPr algn="l">
              <a:spcAft>
                <a:spcPts val="400"/>
              </a:spcAft>
            </a:pPr>
            <a:r>
              <a:rPr sz="1400" b="0">
                <a:solidFill>
                  <a:srgbClr val="111827"/>
                </a:solidFill>
                <a:latin typeface="Calibri"/>
              </a:rPr>
              <a:t>own Appendix C scorer</a:t>
            </a:r>
          </a:p>
          <a:p>
            <a:pPr algn="l">
              <a:spcAft>
                <a:spcPts val="400"/>
              </a:spcAft>
            </a:pPr>
            <a:r>
              <a:rPr sz="1200" b="0">
                <a:solidFill>
                  <a:srgbClr val="111827"/>
                </a:solidFill>
                <a:latin typeface="Calibri"/>
              </a:rPr>
              <a:t>gold labels, 60 paraphrases</a:t>
            </a:r>
          </a:p>
        </p:txBody>
      </p:sp>
      <p:sp>
        <p:nvSpPr>
          <p:cNvPr id="145" name="TextBox 144"/>
          <p:cNvSpPr txBox="1"/>
          <p:nvPr/>
        </p:nvSpPr>
        <p:spPr>
          <a:xfrm>
            <a:off x="9528048" y="3840480"/>
            <a:ext cx="1719072" cy="868680"/>
          </a:xfrm>
          <a:prstGeom prst="rect">
            <a:avLst/>
          </a:prstGeom>
          <a:noFill/>
        </p:spPr>
        <p:txBody>
          <a:bodyPr wrap="square" lIns="0" tIns="18288" rIns="0" bIns="18288" anchor="t">
            <a:spAutoFit/>
          </a:bodyPr>
          <a:lstStyle/>
          <a:p>
            <a:pPr algn="l">
              <a:spcAft>
                <a:spcPts val="400"/>
              </a:spcAft>
            </a:pPr>
            <a:r>
              <a:rPr sz="1100" b="1">
                <a:solidFill>
                  <a:srgbClr val="4B5563"/>
                </a:solidFill>
                <a:latin typeface="Calibri"/>
              </a:rPr>
              <a:t>used for</a:t>
            </a:r>
          </a:p>
          <a:p>
            <a:pPr algn="l">
              <a:spcAft>
                <a:spcPts val="400"/>
              </a:spcAft>
            </a:pPr>
            <a:r>
              <a:rPr sz="1200" b="0">
                <a:solidFill>
                  <a:srgbClr val="4B5563"/>
                </a:solidFill>
                <a:latin typeface="Calibri"/>
              </a:rPr>
              <a:t>before/after numbers</a:t>
            </a:r>
          </a:p>
        </p:txBody>
      </p:sp>
      <p:sp>
        <p:nvSpPr>
          <p:cNvPr id="146" name="TextBox 145"/>
          <p:cNvSpPr txBox="1"/>
          <p:nvPr/>
        </p:nvSpPr>
        <p:spPr>
          <a:xfrm>
            <a:off x="841248" y="5120640"/>
            <a:ext cx="10515600" cy="640080"/>
          </a:xfrm>
          <a:prstGeom prst="rect">
            <a:avLst/>
          </a:prstGeom>
          <a:noFill/>
        </p:spPr>
        <p:txBody>
          <a:bodyPr wrap="square" lIns="0" tIns="18288" rIns="0" bIns="18288" anchor="t">
            <a:spAutoFit/>
          </a:bodyPr>
          <a:lstStyle/>
          <a:p>
            <a:pPr algn="l">
              <a:spcAft>
                <a:spcPts val="400"/>
              </a:spcAft>
            </a:pPr>
            <a:r>
              <a:rPr sz="1300" b="0">
                <a:solidFill>
                  <a:srgbClr val="4B5563"/>
                </a:solidFill>
                <a:latin typeface="Calibri"/>
              </a:rPr>
              <a:t>Runs with no API key at all. The default path is deterministic and costs $0 per query; a GROQ_API_KEY in .env switches the LLM path 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Impact &amp; Use case</a:t>
            </a:r>
            <a:endParaRPr b="1">
              <a:solidFill>
                <a:srgbClr val="704EA6"/>
              </a:solidFill>
            </a:endParaRPr>
          </a:p>
        </p:txBody>
      </p:sp>
      <p:sp>
        <p:nvSpPr>
          <p:cNvPr id="132" name="Rounded Rectangle 131"/>
          <p:cNvSpPr/>
          <p:nvPr/>
        </p:nvSpPr>
        <p:spPr>
          <a:xfrm>
            <a:off x="841248" y="1691640"/>
            <a:ext cx="3337560" cy="146304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1069848" y="1783080"/>
            <a:ext cx="2926080" cy="1371600"/>
          </a:xfrm>
          <a:prstGeom prst="rect">
            <a:avLst/>
          </a:prstGeom>
          <a:noFill/>
        </p:spPr>
        <p:txBody>
          <a:bodyPr wrap="square" lIns="0" tIns="18288" rIns="0" bIns="18288" anchor="t">
            <a:spAutoFit/>
          </a:bodyPr>
          <a:lstStyle/>
          <a:p>
            <a:pPr algn="l">
              <a:spcAft>
                <a:spcPts val="400"/>
              </a:spcAft>
            </a:pPr>
            <a:r>
              <a:rPr sz="3400" b="1">
                <a:solidFill>
                  <a:srgbClr val="1428A0"/>
                </a:solidFill>
                <a:latin typeface="Calibri"/>
              </a:rPr>
              <a:t>110 ms</a:t>
            </a:r>
          </a:p>
          <a:p>
            <a:pPr algn="l">
              <a:spcAft>
                <a:spcPts val="400"/>
              </a:spcAft>
            </a:pPr>
            <a:r>
              <a:rPr sz="1300" b="1">
                <a:solidFill>
                  <a:srgbClr val="111827"/>
                </a:solidFill>
                <a:latin typeface="Calibri"/>
              </a:rPr>
              <a:t>P95 for a brand-new complaint</a:t>
            </a:r>
          </a:p>
          <a:p>
            <a:pPr algn="l">
              <a:spcAft>
                <a:spcPts val="400"/>
              </a:spcAft>
            </a:pPr>
            <a:r>
              <a:rPr sz="1100" b="0">
                <a:solidFill>
                  <a:srgbClr val="4B5563"/>
                </a:solidFill>
                <a:latin typeface="Calibri"/>
              </a:rPr>
              <a:t>vs ~15 min manual, target 8 s</a:t>
            </a:r>
          </a:p>
        </p:txBody>
      </p:sp>
      <p:sp>
        <p:nvSpPr>
          <p:cNvPr id="134" name="Rounded Rectangle 133"/>
          <p:cNvSpPr/>
          <p:nvPr/>
        </p:nvSpPr>
        <p:spPr>
          <a:xfrm>
            <a:off x="4407408" y="1691640"/>
            <a:ext cx="3337560" cy="146304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4636008" y="1783080"/>
            <a:ext cx="2926080" cy="1371600"/>
          </a:xfrm>
          <a:prstGeom prst="rect">
            <a:avLst/>
          </a:prstGeom>
          <a:noFill/>
        </p:spPr>
        <p:txBody>
          <a:bodyPr wrap="square" lIns="0" tIns="18288" rIns="0" bIns="18288" anchor="t">
            <a:spAutoFit/>
          </a:bodyPr>
          <a:lstStyle/>
          <a:p>
            <a:pPr algn="l">
              <a:spcAft>
                <a:spcPts val="400"/>
              </a:spcAft>
            </a:pPr>
            <a:r>
              <a:rPr sz="3400" b="1">
                <a:solidFill>
                  <a:srgbClr val="1428A0"/>
                </a:solidFill>
                <a:latin typeface="Calibri"/>
              </a:rPr>
              <a:t>2 ms</a:t>
            </a:r>
          </a:p>
          <a:p>
            <a:pPr algn="l">
              <a:spcAft>
                <a:spcPts val="400"/>
              </a:spcAft>
            </a:pPr>
            <a:r>
              <a:rPr sz="1300" b="1">
                <a:solidFill>
                  <a:srgbClr val="111827"/>
                </a:solidFill>
                <a:latin typeface="Calibri"/>
              </a:rPr>
              <a:t>P95 when the cache already knows it</a:t>
            </a:r>
          </a:p>
          <a:p>
            <a:pPr algn="l">
              <a:spcAft>
                <a:spcPts val="400"/>
              </a:spcAft>
            </a:pPr>
            <a:r>
              <a:rPr sz="1100" b="0">
                <a:solidFill>
                  <a:srgbClr val="4B5563"/>
                </a:solidFill>
                <a:latin typeface="Calibri"/>
              </a:rPr>
              <a:t>$0, no model call</a:t>
            </a:r>
          </a:p>
        </p:txBody>
      </p:sp>
      <p:sp>
        <p:nvSpPr>
          <p:cNvPr id="136" name="Rounded Rectangle 135"/>
          <p:cNvSpPr/>
          <p:nvPr/>
        </p:nvSpPr>
        <p:spPr>
          <a:xfrm>
            <a:off x="7973568" y="1691640"/>
            <a:ext cx="3337560" cy="146304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8202168" y="1783080"/>
            <a:ext cx="2926080" cy="1371600"/>
          </a:xfrm>
          <a:prstGeom prst="rect">
            <a:avLst/>
          </a:prstGeom>
          <a:noFill/>
        </p:spPr>
        <p:txBody>
          <a:bodyPr wrap="square" lIns="0" tIns="18288" rIns="0" bIns="18288" anchor="t">
            <a:spAutoFit/>
          </a:bodyPr>
          <a:lstStyle/>
          <a:p>
            <a:pPr algn="l">
              <a:spcAft>
                <a:spcPts val="400"/>
              </a:spcAft>
            </a:pPr>
            <a:r>
              <a:rPr sz="3400" b="1">
                <a:solidFill>
                  <a:srgbClr val="1428A0"/>
                </a:solidFill>
                <a:latin typeface="Calibri"/>
              </a:rPr>
              <a:t>87%</a:t>
            </a:r>
          </a:p>
          <a:p>
            <a:pPr algn="l">
              <a:spcAft>
                <a:spcPts val="400"/>
              </a:spcAft>
            </a:pPr>
            <a:r>
              <a:rPr sz="1300" b="1">
                <a:solidFill>
                  <a:srgbClr val="111827"/>
                </a:solidFill>
                <a:latin typeface="Calibri"/>
              </a:rPr>
              <a:t>of 60 unseen rephrasings answered from cache</a:t>
            </a:r>
          </a:p>
          <a:p>
            <a:pPr algn="l">
              <a:spcAft>
                <a:spcPts val="400"/>
              </a:spcAft>
            </a:pPr>
            <a:r>
              <a:rPr sz="1100" b="0">
                <a:solidFill>
                  <a:srgbClr val="4B5563"/>
                </a:solidFill>
                <a:latin typeface="Calibri"/>
              </a:rPr>
              <a:t>was 0% before</a:t>
            </a:r>
          </a:p>
        </p:txBody>
      </p:sp>
      <p:sp>
        <p:nvSpPr>
          <p:cNvPr id="138" name="TextBox 137"/>
          <p:cNvSpPr txBox="1"/>
          <p:nvPr/>
        </p:nvSpPr>
        <p:spPr>
          <a:xfrm>
            <a:off x="841248" y="3566160"/>
            <a:ext cx="5120640" cy="365760"/>
          </a:xfrm>
          <a:prstGeom prst="rect">
            <a:avLst/>
          </a:prstGeom>
          <a:noFill/>
        </p:spPr>
        <p:txBody>
          <a:bodyPr wrap="square" lIns="0" tIns="18288" rIns="0" bIns="18288" anchor="t">
            <a:spAutoFit/>
          </a:bodyPr>
          <a:lstStyle/>
          <a:p>
            <a:pPr algn="l">
              <a:spcAft>
                <a:spcPts val="400"/>
              </a:spcAft>
            </a:pPr>
            <a:r>
              <a:rPr sz="1600" b="1">
                <a:solidFill>
                  <a:srgbClr val="1428A0"/>
                </a:solidFill>
                <a:latin typeface="Calibri"/>
              </a:rPr>
              <a:t>A typical ticket</a:t>
            </a:r>
          </a:p>
        </p:txBody>
      </p:sp>
      <p:sp>
        <p:nvSpPr>
          <p:cNvPr id="139" name="Oval 138"/>
          <p:cNvSpPr/>
          <p:nvPr/>
        </p:nvSpPr>
        <p:spPr>
          <a:xfrm>
            <a:off x="841248" y="4023360"/>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a:t>
            </a:r>
          </a:p>
        </p:txBody>
      </p:sp>
      <p:sp>
        <p:nvSpPr>
          <p:cNvPr id="140" name="TextBox 139"/>
          <p:cNvSpPr txBox="1"/>
          <p:nvPr/>
        </p:nvSpPr>
        <p:spPr>
          <a:xfrm>
            <a:off x="1325880" y="3995928"/>
            <a:ext cx="4663440" cy="457200"/>
          </a:xfrm>
          <a:prstGeom prst="rect">
            <a:avLst/>
          </a:prstGeom>
          <a:noFill/>
        </p:spPr>
        <p:txBody>
          <a:bodyPr wrap="square" lIns="0" tIns="18288" rIns="0" bIns="18288" anchor="ctr">
            <a:spAutoFit/>
          </a:bodyPr>
          <a:lstStyle/>
          <a:p>
            <a:pPr algn="l">
              <a:spcAft>
                <a:spcPts val="400"/>
              </a:spcAft>
            </a:pPr>
            <a:r>
              <a:rPr sz="1300" b="0">
                <a:solidFill>
                  <a:srgbClr val="111827"/>
                </a:solidFill>
                <a:latin typeface="Calibri"/>
              </a:rPr>
              <a:t>“Nexa X1 touch is laggy and inputs are delayed”</a:t>
            </a:r>
          </a:p>
        </p:txBody>
      </p:sp>
      <p:sp>
        <p:nvSpPr>
          <p:cNvPr id="141" name="Oval 140"/>
          <p:cNvSpPr/>
          <p:nvPr/>
        </p:nvSpPr>
        <p:spPr>
          <a:xfrm>
            <a:off x="841248" y="4572000"/>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2</a:t>
            </a:r>
          </a:p>
        </p:txBody>
      </p:sp>
      <p:sp>
        <p:nvSpPr>
          <p:cNvPr id="142" name="TextBox 141"/>
          <p:cNvSpPr txBox="1"/>
          <p:nvPr/>
        </p:nvSpPr>
        <p:spPr>
          <a:xfrm>
            <a:off x="1325880" y="4544568"/>
            <a:ext cx="4663440" cy="457200"/>
          </a:xfrm>
          <a:prstGeom prst="rect">
            <a:avLst/>
          </a:prstGeom>
          <a:noFill/>
        </p:spPr>
        <p:txBody>
          <a:bodyPr wrap="square" lIns="0" tIns="18288" rIns="0" bIns="18288" anchor="ctr">
            <a:spAutoFit/>
          </a:bodyPr>
          <a:lstStyle/>
          <a:p>
            <a:pPr algn="l">
              <a:spcAft>
                <a:spcPts val="400"/>
              </a:spcAft>
            </a:pPr>
            <a:r>
              <a:rPr sz="1300" b="0">
                <a:solidFill>
                  <a:srgbClr val="111827"/>
                </a:solidFill>
                <a:latin typeface="Calibri"/>
              </a:rPr>
              <a:t>Plan: Touch sensitivity, nav bar to buttons, check the charger</a:t>
            </a:r>
          </a:p>
        </p:txBody>
      </p:sp>
      <p:sp>
        <p:nvSpPr>
          <p:cNvPr id="143" name="Oval 142"/>
          <p:cNvSpPr/>
          <p:nvPr/>
        </p:nvSpPr>
        <p:spPr>
          <a:xfrm>
            <a:off x="841248" y="5120640"/>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3</a:t>
            </a:r>
          </a:p>
        </p:txBody>
      </p:sp>
      <p:sp>
        <p:nvSpPr>
          <p:cNvPr id="144" name="TextBox 143"/>
          <p:cNvSpPr txBox="1"/>
          <p:nvPr/>
        </p:nvSpPr>
        <p:spPr>
          <a:xfrm>
            <a:off x="1325880" y="5093208"/>
            <a:ext cx="4663440" cy="457200"/>
          </a:xfrm>
          <a:prstGeom prst="rect">
            <a:avLst/>
          </a:prstGeom>
          <a:noFill/>
        </p:spPr>
        <p:txBody>
          <a:bodyPr wrap="square" lIns="0" tIns="18288" rIns="0" bIns="18288" anchor="ctr">
            <a:spAutoFit/>
          </a:bodyPr>
          <a:lstStyle/>
          <a:p>
            <a:pPr algn="l">
              <a:spcAft>
                <a:spcPts val="400"/>
              </a:spcAft>
            </a:pPr>
            <a:r>
              <a:rPr sz="1300" b="0">
                <a:solidFill>
                  <a:srgbClr val="111827"/>
                </a:solidFill>
                <a:latin typeface="Calibri"/>
              </a:rPr>
              <a:t>Phone confirms each setting really changed</a:t>
            </a:r>
          </a:p>
        </p:txBody>
      </p:sp>
      <p:sp>
        <p:nvSpPr>
          <p:cNvPr id="145" name="Oval 144"/>
          <p:cNvSpPr/>
          <p:nvPr/>
        </p:nvSpPr>
        <p:spPr>
          <a:xfrm>
            <a:off x="841248" y="5669280"/>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4</a:t>
            </a:r>
          </a:p>
        </p:txBody>
      </p:sp>
      <p:sp>
        <p:nvSpPr>
          <p:cNvPr id="146" name="TextBox 145"/>
          <p:cNvSpPr txBox="1"/>
          <p:nvPr/>
        </p:nvSpPr>
        <p:spPr>
          <a:xfrm>
            <a:off x="1325880" y="5641848"/>
            <a:ext cx="4663440" cy="457200"/>
          </a:xfrm>
          <a:prstGeom prst="rect">
            <a:avLst/>
          </a:prstGeom>
          <a:noFill/>
        </p:spPr>
        <p:txBody>
          <a:bodyPr wrap="square" lIns="0" tIns="18288" rIns="0" bIns="18288" anchor="ctr">
            <a:spAutoFit/>
          </a:bodyPr>
          <a:lstStyle/>
          <a:p>
            <a:pPr algn="l">
              <a:spcAft>
                <a:spcPts val="400"/>
              </a:spcAft>
            </a:pPr>
            <a:r>
              <a:rPr sz="1300" b="0">
                <a:solidFill>
                  <a:srgbClr val="111827"/>
                </a:solidFill>
                <a:latin typeface="Calibri"/>
              </a:rPr>
              <a:t>Still laggy? Only then restart, safe mode, reset (backup first)</a:t>
            </a:r>
          </a:p>
        </p:txBody>
      </p:sp>
      <p:pic>
        <p:nvPicPr>
          <p:cNvPr id="147" name="Picture 146" descr="image.png"/>
          <p:cNvPicPr>
            <a:picLocks noChangeAspect="1"/>
          </p:cNvPicPr>
          <p:nvPr/>
        </p:nvPicPr>
        <p:blipFill>
          <a:blip r:embed="rId3"/>
          <a:stretch>
            <a:fillRect/>
          </a:stretch>
        </p:blipFill>
        <p:spPr>
          <a:xfrm>
            <a:off x="6903720" y="3611880"/>
            <a:ext cx="4434840" cy="2771775"/>
          </a:xfrm>
          <a:prstGeom prst="rect">
            <a:avLst/>
          </a:prstGeom>
          <a:ln w="12700">
            <a:solidFill>
              <a:srgbClr val="D1D5DB"/>
            </a:solidFill>
          </a:ln>
        </p:spPr>
      </p:pic>
      <p:sp>
        <p:nvSpPr>
          <p:cNvPr id="148" name="TextBox 147"/>
          <p:cNvSpPr txBox="1"/>
          <p:nvPr/>
        </p:nvSpPr>
        <p:spPr>
          <a:xfrm>
            <a:off x="6903720" y="6428232"/>
            <a:ext cx="4434840" cy="274320"/>
          </a:xfrm>
          <a:prstGeom prst="rect">
            <a:avLst/>
          </a:prstGeom>
          <a:noFill/>
        </p:spPr>
        <p:txBody>
          <a:bodyPr wrap="square" lIns="0" tIns="18288" rIns="0" bIns="18288" anchor="t">
            <a:spAutoFit/>
          </a:bodyPr>
          <a:lstStyle/>
          <a:p>
            <a:pPr algn="l">
              <a:spcAft>
                <a:spcPts val="400"/>
              </a:spcAft>
            </a:pPr>
            <a:r>
              <a:rPr sz="1100" b="0">
                <a:solidFill>
                  <a:srgbClr val="4B5563"/>
                </a:solidFill>
                <a:latin typeface="Calibri"/>
              </a:rPr>
              <a:t>Batch run: all 20 kit complaints in one go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600" b="1">
                <a:solidFill>
                  <a:srgbClr val="704EA6"/>
                </a:solidFill>
                <a:latin typeface="Calibri"/>
                <a:ea typeface="Calibri"/>
                <a:cs typeface="Calibri"/>
                <a:sym typeface="Calibri"/>
              </a:rPr>
              <a:t>Innovation highlights, results and limitations</a:t>
            </a:r>
            <a:endParaRPr sz="4400" b="1">
              <a:solidFill>
                <a:srgbClr val="704EA6"/>
              </a:solidFill>
            </a:endParaRPr>
          </a:p>
        </p:txBody>
      </p:sp>
      <p:sp>
        <p:nvSpPr>
          <p:cNvPr id="138" name="TextBox 137"/>
          <p:cNvSpPr txBox="1"/>
          <p:nvPr/>
        </p:nvSpPr>
        <p:spPr>
          <a:xfrm>
            <a:off x="841248" y="1600200"/>
            <a:ext cx="5760720" cy="365760"/>
          </a:xfrm>
          <a:prstGeom prst="rect">
            <a:avLst/>
          </a:prstGeom>
          <a:noFill/>
        </p:spPr>
        <p:txBody>
          <a:bodyPr wrap="square" lIns="0" tIns="18288" rIns="0" bIns="18288" anchor="t">
            <a:spAutoFit/>
          </a:bodyPr>
          <a:lstStyle/>
          <a:p>
            <a:pPr algn="l">
              <a:spcAft>
                <a:spcPts val="400"/>
              </a:spcAft>
            </a:pPr>
            <a:r>
              <a:rPr sz="1400" b="1">
                <a:solidFill>
                  <a:srgbClr val="1428A0"/>
                </a:solidFill>
                <a:latin typeface="Calibri"/>
              </a:rPr>
              <a:t>Before (starter code) vs after, same scorer</a:t>
            </a:r>
          </a:p>
        </p:txBody>
      </p:sp>
      <p:graphicFrame>
        <p:nvGraphicFramePr>
          <p:cNvPr id="139" name="Chart 138"/>
          <p:cNvGraphicFramePr>
            <a:graphicFrameLocks noGrp="1"/>
          </p:cNvGraphicFramePr>
          <p:nvPr/>
        </p:nvGraphicFramePr>
        <p:xfrm>
          <a:off x="841248" y="1965960"/>
          <a:ext cx="58521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40" name="TextBox 139"/>
          <p:cNvSpPr txBox="1"/>
          <p:nvPr/>
        </p:nvSpPr>
        <p:spPr>
          <a:xfrm>
            <a:off x="841248" y="4937760"/>
            <a:ext cx="5852160" cy="548640"/>
          </a:xfrm>
          <a:prstGeom prst="rect">
            <a:avLst/>
          </a:prstGeom>
          <a:noFill/>
        </p:spPr>
        <p:txBody>
          <a:bodyPr wrap="square" lIns="0" tIns="18288" rIns="0" bIns="18288" anchor="t">
            <a:spAutoFit/>
          </a:bodyPr>
          <a:lstStyle/>
          <a:p>
            <a:pPr algn="l">
              <a:spcAft>
                <a:spcPts val="400"/>
              </a:spcAft>
            </a:pPr>
            <a:r>
              <a:rPr sz="1000" b="0">
                <a:solidFill>
                  <a:srgbClr val="4B5563"/>
                </a:solidFill>
                <a:latin typeface="Calibri"/>
              </a:rPr>
              <a:t>Step accuracy 2.74 → 2.94 (of 3). URL leaks 0, catalog-valid links 100%. LLM mode (openai/gpt-oss-120b) works, ~$0.0011 per LLM-made plan; on Groq's free tier only 5% of batch plans got through before rate limits, the rest fell back offline.</a:t>
            </a:r>
          </a:p>
        </p:txBody>
      </p:sp>
      <p:sp>
        <p:nvSpPr>
          <p:cNvPr id="141" name="TextBox 140"/>
          <p:cNvSpPr txBox="1"/>
          <p:nvPr/>
        </p:nvSpPr>
        <p:spPr>
          <a:xfrm>
            <a:off x="841248" y="5532120"/>
            <a:ext cx="5852160" cy="320040"/>
          </a:xfrm>
          <a:prstGeom prst="rect">
            <a:avLst/>
          </a:prstGeom>
          <a:noFill/>
        </p:spPr>
        <p:txBody>
          <a:bodyPr wrap="square" lIns="0" tIns="18288" rIns="0" bIns="18288" anchor="t">
            <a:spAutoFit/>
          </a:bodyPr>
          <a:lstStyle/>
          <a:p>
            <a:pPr algn="l">
              <a:spcAft>
                <a:spcPts val="400"/>
              </a:spcAft>
            </a:pPr>
            <a:r>
              <a:rPr sz="1400" b="1">
                <a:solidFill>
                  <a:srgbClr val="1428A0"/>
                </a:solidFill>
                <a:latin typeface="Calibri"/>
              </a:rPr>
              <a:t>Limitations</a:t>
            </a:r>
          </a:p>
        </p:txBody>
      </p:sp>
      <p:sp>
        <p:nvSpPr>
          <p:cNvPr id="142" name="TextBox 141"/>
          <p:cNvSpPr txBox="1"/>
          <p:nvPr/>
        </p:nvSpPr>
        <p:spPr>
          <a:xfrm>
            <a:off x="841248" y="5852160"/>
            <a:ext cx="5852160" cy="822960"/>
          </a:xfrm>
          <a:prstGeom prst="rect">
            <a:avLst/>
          </a:prstGeom>
          <a:noFill/>
        </p:spPr>
        <p:txBody>
          <a:bodyPr wrap="square" lIns="0" tIns="18288" rIns="0" bIns="18288" anchor="t">
            <a:spAutoFit/>
          </a:bodyPr>
          <a:lstStyle/>
          <a:p>
            <a:pPr algn="l">
              <a:spcAft>
                <a:spcPts val="400"/>
              </a:spcAft>
            </a:pPr>
            <a:r>
              <a:rPr sz="1100" b="0">
                <a:solidFill>
                  <a:srgbClr val="111827"/>
                </a:solidFill>
                <a:latin typeface="Calibri"/>
              </a:rPr>
              <a:t>A few kit complaints come with only loosely related articles; the score drops, the plan stays honest.</a:t>
            </a:r>
          </a:p>
          <a:p>
            <a:pPr algn="l">
              <a:spcAft>
                <a:spcPts val="400"/>
              </a:spcAft>
            </a:pPr>
            <a:r>
              <a:rPr sz="1100" b="0">
                <a:solidFill>
                  <a:srgbClr val="111827"/>
                </a:solidFill>
                <a:latin typeface="Calibri"/>
              </a:rPr>
              <a:t>12% of rephrasings hit a plan from a neighbouring article. The phone is simulated.</a:t>
            </a:r>
          </a:p>
        </p:txBody>
      </p:sp>
      <p:sp>
        <p:nvSpPr>
          <p:cNvPr id="143" name="TextBox 142"/>
          <p:cNvSpPr txBox="1"/>
          <p:nvPr/>
        </p:nvSpPr>
        <p:spPr>
          <a:xfrm>
            <a:off x="7040880" y="1600200"/>
            <a:ext cx="4343400" cy="365760"/>
          </a:xfrm>
          <a:prstGeom prst="rect">
            <a:avLst/>
          </a:prstGeom>
          <a:noFill/>
        </p:spPr>
        <p:txBody>
          <a:bodyPr wrap="square" lIns="0" tIns="18288" rIns="0" bIns="18288" anchor="t">
            <a:spAutoFit/>
          </a:bodyPr>
          <a:lstStyle/>
          <a:p>
            <a:pPr algn="l">
              <a:spcAft>
                <a:spcPts val="400"/>
              </a:spcAft>
            </a:pPr>
            <a:r>
              <a:rPr sz="1400" b="1">
                <a:solidFill>
                  <a:srgbClr val="1428A0"/>
                </a:solidFill>
                <a:latin typeface="Calibri"/>
              </a:rPr>
              <a:t>Innovation: check the fix actually worked</a:t>
            </a:r>
          </a:p>
        </p:txBody>
      </p:sp>
      <p:pic>
        <p:nvPicPr>
          <p:cNvPr id="144" name="Picture 143" descr="image.png"/>
          <p:cNvPicPr>
            <a:picLocks noChangeAspect="1"/>
          </p:cNvPicPr>
          <p:nvPr/>
        </p:nvPicPr>
        <p:blipFill>
          <a:blip r:embed="rId4"/>
          <a:stretch>
            <a:fillRect/>
          </a:stretch>
        </p:blipFill>
        <p:spPr>
          <a:xfrm>
            <a:off x="7040880" y="2011680"/>
            <a:ext cx="4343400" cy="2702560"/>
          </a:xfrm>
          <a:prstGeom prst="rect">
            <a:avLst/>
          </a:prstGeom>
        </p:spPr>
      </p:pic>
      <p:sp>
        <p:nvSpPr>
          <p:cNvPr id="145" name="TextBox 144"/>
          <p:cNvSpPr txBox="1"/>
          <p:nvPr/>
        </p:nvSpPr>
        <p:spPr>
          <a:xfrm>
            <a:off x="7040880" y="4800600"/>
            <a:ext cx="4343400" cy="1737360"/>
          </a:xfrm>
          <a:prstGeom prst="rect">
            <a:avLst/>
          </a:prstGeom>
          <a:noFill/>
        </p:spPr>
        <p:txBody>
          <a:bodyPr wrap="square" lIns="0" tIns="18288" rIns="0" bIns="18288" anchor="t">
            <a:spAutoFit/>
          </a:bodyPr>
          <a:lstStyle/>
          <a:p>
            <a:pPr algn="l">
              <a:spcAft>
                <a:spcPts val="400"/>
              </a:spcAft>
            </a:pPr>
            <a:r>
              <a:rPr sz="1200" b="0">
                <a:solidFill>
                  <a:srgbClr val="111827"/>
                </a:solidFill>
                <a:latin typeface="Calibri"/>
              </a:rPr>
              <a:t>We fill validationDeeplink from the catalog: onURL means expect True, offURL means False, updateURL means the value went up or down.</a:t>
            </a:r>
          </a:p>
          <a:p>
            <a:pPr algn="l">
              <a:spcAft>
                <a:spcPts val="400"/>
              </a:spcAft>
            </a:pPr>
            <a:r>
              <a:rPr sz="1200" b="0">
                <a:solidFill>
                  <a:srgbClr val="111827"/>
                </a:solidFill>
                <a:latin typeface="Calibri"/>
              </a:rPr>
              <a:t>On the kit, 2 of 3 simulated toggles were confirmed. Restart and reset stay locked until the safe fixes are done.</a:t>
            </a:r>
          </a:p>
          <a:p>
            <a:pPr algn="l">
              <a:spcAft>
                <a:spcPts val="400"/>
              </a:spcAft>
            </a:pPr>
            <a:r>
              <a:rPr sz="1200" b="0">
                <a:solidFill>
                  <a:srgbClr val="4B5563"/>
                </a:solidFill>
                <a:latin typeface="Calibri"/>
              </a:rPr>
              <a:t>Also: step-to-sentence trace, relevance gate, one plan per problem.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What’s next</a:t>
            </a:r>
            <a:endParaRPr sz="4400" b="1" dirty="0">
              <a:solidFill>
                <a:srgbClr val="704EA6"/>
              </a:solidFill>
            </a:endParaRPr>
          </a:p>
        </p:txBody>
      </p:sp>
      <p:cxnSp>
        <p:nvCxnSpPr>
          <p:cNvPr id="144" name="Connector 143"/>
          <p:cNvCxnSpPr/>
          <p:nvPr/>
        </p:nvCxnSpPr>
        <p:spPr>
          <a:xfrm>
            <a:off x="1280160" y="2514600"/>
            <a:ext cx="9601200" cy="0"/>
          </a:xfrm>
          <a:prstGeom prst="line">
            <a:avLst/>
          </a:prstGeom>
          <a:ln w="38100">
            <a:solidFill>
              <a:srgbClr val="D1D5DB"/>
            </a:solidFill>
          </a:ln>
        </p:spPr>
        <p:style>
          <a:lnRef idx="2">
            <a:schemeClr val="accent1"/>
          </a:lnRef>
          <a:fillRef idx="0">
            <a:schemeClr val="accent1"/>
          </a:fillRef>
          <a:effectRef idx="1">
            <a:schemeClr val="accent1"/>
          </a:effectRef>
          <a:fontRef idx="minor">
            <a:schemeClr val="tx1"/>
          </a:fontRef>
        </p:style>
      </p:cxnSp>
      <p:sp>
        <p:nvSpPr>
          <p:cNvPr id="145" name="Oval 144"/>
          <p:cNvSpPr/>
          <p:nvPr/>
        </p:nvSpPr>
        <p:spPr>
          <a:xfrm>
            <a:off x="1115568" y="2194560"/>
            <a:ext cx="640080" cy="64008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146" name="Rounded Rectangle 145"/>
          <p:cNvSpPr/>
          <p:nvPr/>
        </p:nvSpPr>
        <p:spPr>
          <a:xfrm>
            <a:off x="841248" y="3154680"/>
            <a:ext cx="2468880" cy="187451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1024128" y="3291840"/>
            <a:ext cx="2148840" cy="1691640"/>
          </a:xfrm>
          <a:prstGeom prst="rect">
            <a:avLst/>
          </a:prstGeom>
          <a:noFill/>
        </p:spPr>
        <p:txBody>
          <a:bodyPr wrap="square" lIns="0" tIns="18288" rIns="0" bIns="18288" anchor="t">
            <a:spAutoFit/>
          </a:bodyPr>
          <a:lstStyle/>
          <a:p>
            <a:pPr algn="l">
              <a:spcAft>
                <a:spcPts val="400"/>
              </a:spcAft>
            </a:pPr>
            <a:r>
              <a:rPr sz="1700" b="1">
                <a:solidFill>
                  <a:srgbClr val="111827"/>
                </a:solidFill>
                <a:latin typeface="Calibri"/>
              </a:rPr>
              <a:t>Real device check</a:t>
            </a:r>
          </a:p>
          <a:p>
            <a:pPr algn="l">
              <a:spcAft>
                <a:spcPts val="400"/>
              </a:spcAft>
            </a:pPr>
            <a:r>
              <a:rPr sz="1400" b="0">
                <a:solidFill>
                  <a:srgbClr val="4B5563"/>
                </a:solidFill>
                <a:latin typeface="Calibri"/>
              </a:rPr>
              <a:t>Run the val/ reads through the voice agent on a real phone instead of our simulator.</a:t>
            </a:r>
          </a:p>
        </p:txBody>
      </p:sp>
      <p:sp>
        <p:nvSpPr>
          <p:cNvPr id="148" name="Oval 147"/>
          <p:cNvSpPr/>
          <p:nvPr/>
        </p:nvSpPr>
        <p:spPr>
          <a:xfrm>
            <a:off x="3813048" y="2194560"/>
            <a:ext cx="640080" cy="64008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49" name="Rounded Rectangle 148"/>
          <p:cNvSpPr/>
          <p:nvPr/>
        </p:nvSpPr>
        <p:spPr>
          <a:xfrm>
            <a:off x="3538728" y="3154680"/>
            <a:ext cx="2468880" cy="187451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3721608" y="3291840"/>
            <a:ext cx="2148840" cy="1691640"/>
          </a:xfrm>
          <a:prstGeom prst="rect">
            <a:avLst/>
          </a:prstGeom>
          <a:noFill/>
        </p:spPr>
        <p:txBody>
          <a:bodyPr wrap="square" lIns="0" tIns="18288" rIns="0" bIns="18288" anchor="t">
            <a:spAutoFit/>
          </a:bodyPr>
          <a:lstStyle/>
          <a:p>
            <a:pPr algn="l">
              <a:spcAft>
                <a:spcPts val="400"/>
              </a:spcAft>
            </a:pPr>
            <a:r>
              <a:rPr sz="1700" b="1">
                <a:solidFill>
                  <a:srgbClr val="111827"/>
                </a:solidFill>
                <a:latin typeface="Calibri"/>
              </a:rPr>
              <a:t>Learn from outcomes</a:t>
            </a:r>
          </a:p>
          <a:p>
            <a:pPr algn="l">
              <a:spcAft>
                <a:spcPts val="400"/>
              </a:spcAft>
            </a:pPr>
            <a:r>
              <a:rPr sz="1400" b="0">
                <a:solidFill>
                  <a:srgbClr val="4B5563"/>
                </a:solidFill>
                <a:latin typeface="Calibri"/>
              </a:rPr>
              <a:t>Log which fix actually closed the ticket and rank plans with that.</a:t>
            </a:r>
          </a:p>
        </p:txBody>
      </p:sp>
      <p:sp>
        <p:nvSpPr>
          <p:cNvPr id="151" name="Oval 150"/>
          <p:cNvSpPr/>
          <p:nvPr/>
        </p:nvSpPr>
        <p:spPr>
          <a:xfrm>
            <a:off x="6510528" y="2194560"/>
            <a:ext cx="640080" cy="64008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52" name="Rounded Rectangle 151"/>
          <p:cNvSpPr/>
          <p:nvPr/>
        </p:nvSpPr>
        <p:spPr>
          <a:xfrm>
            <a:off x="6236208" y="3154680"/>
            <a:ext cx="2468880" cy="187451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6419088" y="3291840"/>
            <a:ext cx="2148840" cy="1691640"/>
          </a:xfrm>
          <a:prstGeom prst="rect">
            <a:avLst/>
          </a:prstGeom>
          <a:noFill/>
        </p:spPr>
        <p:txBody>
          <a:bodyPr wrap="square" lIns="0" tIns="18288" rIns="0" bIns="18288" anchor="t">
            <a:spAutoFit/>
          </a:bodyPr>
          <a:lstStyle/>
          <a:p>
            <a:pPr algn="l">
              <a:spcAft>
                <a:spcPts val="400"/>
              </a:spcAft>
            </a:pPr>
            <a:r>
              <a:rPr sz="1700" b="1">
                <a:solidFill>
                  <a:srgbClr val="111827"/>
                </a:solidFill>
                <a:latin typeface="Calibri"/>
              </a:rPr>
              <a:t>Hindi / Hinglish</a:t>
            </a:r>
          </a:p>
          <a:p>
            <a:pPr algn="l">
              <a:spcAft>
                <a:spcPts val="400"/>
              </a:spcAft>
            </a:pPr>
            <a:r>
              <a:rPr sz="1400" b="0">
                <a:solidFill>
                  <a:srgbClr val="4B5563"/>
                </a:solidFill>
                <a:latin typeface="Calibri"/>
              </a:rPr>
              <a:t>Most complaints in India mix languages. Add normalisation and multilingual embeddings.</a:t>
            </a:r>
          </a:p>
        </p:txBody>
      </p:sp>
      <p:sp>
        <p:nvSpPr>
          <p:cNvPr id="154" name="Oval 153"/>
          <p:cNvSpPr/>
          <p:nvPr/>
        </p:nvSpPr>
        <p:spPr>
          <a:xfrm>
            <a:off x="9208008" y="2194560"/>
            <a:ext cx="640080" cy="64008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155" name="Rounded Rectangle 154"/>
          <p:cNvSpPr/>
          <p:nvPr/>
        </p:nvSpPr>
        <p:spPr>
          <a:xfrm>
            <a:off x="8933688" y="3154680"/>
            <a:ext cx="2468880" cy="187451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9116568" y="3291840"/>
            <a:ext cx="2148840" cy="1691640"/>
          </a:xfrm>
          <a:prstGeom prst="rect">
            <a:avLst/>
          </a:prstGeom>
          <a:noFill/>
        </p:spPr>
        <p:txBody>
          <a:bodyPr wrap="square" lIns="0" tIns="18288" rIns="0" bIns="18288" anchor="t">
            <a:spAutoFit/>
          </a:bodyPr>
          <a:lstStyle/>
          <a:p>
            <a:pPr algn="l">
              <a:spcAft>
                <a:spcPts val="400"/>
              </a:spcAft>
            </a:pPr>
            <a:r>
              <a:rPr sz="1700" b="1">
                <a:solidFill>
                  <a:srgbClr val="111827"/>
                </a:solidFill>
                <a:latin typeface="Calibri"/>
              </a:rPr>
              <a:t>Per-device screens</a:t>
            </a:r>
          </a:p>
          <a:p>
            <a:pPr algn="l">
              <a:spcAft>
                <a:spcPts val="400"/>
              </a:spcAft>
            </a:pPr>
            <a:r>
              <a:rPr sz="1400" b="0">
                <a:solidFill>
                  <a:srgbClr val="4B5563"/>
                </a:solidFill>
                <a:latin typeface="Calibri"/>
              </a:rPr>
              <a:t>Fold cover vs inner display, tablets. We detect the model already; the catalog doesn't split yet.</a:t>
            </a:r>
          </a:p>
        </p:txBody>
      </p:sp>
      <p:sp>
        <p:nvSpPr>
          <p:cNvPr id="157" name="TextBox 156"/>
          <p:cNvSpPr txBox="1"/>
          <p:nvPr/>
        </p:nvSpPr>
        <p:spPr>
          <a:xfrm>
            <a:off x="841248" y="5349240"/>
            <a:ext cx="10515600" cy="548640"/>
          </a:xfrm>
          <a:prstGeom prst="rect">
            <a:avLst/>
          </a:prstGeom>
          <a:noFill/>
        </p:spPr>
        <p:txBody>
          <a:bodyPr wrap="square" lIns="0" tIns="18288" rIns="0" bIns="18288" anchor="t">
            <a:spAutoFit/>
          </a:bodyPr>
          <a:lstStyle/>
          <a:p>
            <a:pPr algn="l">
              <a:spcAft>
                <a:spcPts val="400"/>
              </a:spcAft>
            </a:pPr>
            <a:r>
              <a:rPr sz="1300" b="0">
                <a:solidFill>
                  <a:srgbClr val="4B5563"/>
                </a:solidFill>
                <a:latin typeface="Calibri"/>
              </a:rPr>
              <a:t>Soon: warm the cache from real ticket history, and move to a paid LLM tier so it isn't rate-limited.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Brownie points ( differentiation)</a:t>
            </a:r>
            <a:endParaRPr sz="4400" b="1" dirty="0">
              <a:solidFill>
                <a:srgbClr val="704EA6"/>
              </a:solidFill>
            </a:endParaRPr>
          </a:p>
        </p:txBody>
      </p:sp>
      <p:sp>
        <p:nvSpPr>
          <p:cNvPr id="150" name="Rounded Rectangle 149"/>
          <p:cNvSpPr/>
          <p:nvPr/>
        </p:nvSpPr>
        <p:spPr>
          <a:xfrm>
            <a:off x="841248" y="1783080"/>
            <a:ext cx="3063240" cy="18288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1042416" y="1947672"/>
            <a:ext cx="2697480" cy="1554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We measured it</a:t>
            </a:r>
          </a:p>
          <a:p>
            <a:pPr algn="l">
              <a:spcAft>
                <a:spcPts val="400"/>
              </a:spcAft>
            </a:pPr>
            <a:r>
              <a:rPr sz="1300" b="0">
                <a:solidFill>
                  <a:srgbClr val="111827"/>
                </a:solidFill>
                <a:latin typeface="Calibri"/>
              </a:rPr>
              <a:t>Our own scorer, hand-labelled gold and 60 rephrasings we wrote. Run on the starter code too, so the “before” is real (5% → 100% rule compliance).</a:t>
            </a:r>
          </a:p>
        </p:txBody>
      </p:sp>
      <p:sp>
        <p:nvSpPr>
          <p:cNvPr id="152" name="Rounded Rectangle 151"/>
          <p:cNvSpPr/>
          <p:nvPr/>
        </p:nvSpPr>
        <p:spPr>
          <a:xfrm>
            <a:off x="4087368" y="1783080"/>
            <a:ext cx="3063240" cy="18288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4288536" y="1947672"/>
            <a:ext cx="2697480" cy="1554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Fixes get checked</a:t>
            </a:r>
          </a:p>
          <a:p>
            <a:pPr algn="l">
              <a:spcAft>
                <a:spcPts val="400"/>
              </a:spcAft>
            </a:pPr>
            <a:r>
              <a:rPr sz="1300" b="0">
                <a:solidFill>
                  <a:srgbClr val="111827"/>
                </a:solidFill>
                <a:latin typeface="Calibri"/>
              </a:rPr>
              <a:t>A deeplink only proves a screen opened. We read the setting back and only then move on.</a:t>
            </a:r>
          </a:p>
        </p:txBody>
      </p:sp>
      <p:sp>
        <p:nvSpPr>
          <p:cNvPr id="154" name="Rounded Rectangle 153"/>
          <p:cNvSpPr/>
          <p:nvPr/>
        </p:nvSpPr>
        <p:spPr>
          <a:xfrm>
            <a:off x="841248" y="3794760"/>
            <a:ext cx="3063240" cy="18288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1042416" y="3959352"/>
            <a:ext cx="2697480" cy="1554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Nothing made up</a:t>
            </a:r>
          </a:p>
          <a:p>
            <a:pPr algn="l">
              <a:spcAft>
                <a:spcPts val="400"/>
              </a:spcAft>
            </a:pPr>
            <a:r>
              <a:rPr sz="1300" b="0">
                <a:solidFill>
                  <a:srgbClr val="111827"/>
                </a:solidFill>
                <a:latin typeface="Calibri"/>
              </a:rPr>
              <a:t>Every step points to the sentence in the SIIS text it came from. No fit means an empty plan, not a guess.</a:t>
            </a:r>
          </a:p>
        </p:txBody>
      </p:sp>
      <p:sp>
        <p:nvSpPr>
          <p:cNvPr id="156" name="Rounded Rectangle 155"/>
          <p:cNvSpPr/>
          <p:nvPr/>
        </p:nvSpPr>
        <p:spPr>
          <a:xfrm>
            <a:off x="4087368" y="3794760"/>
            <a:ext cx="3063240" cy="18288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4288536" y="3959352"/>
            <a:ext cx="2697480" cy="1554480"/>
          </a:xfrm>
          <a:prstGeom prst="rect">
            <a:avLst/>
          </a:prstGeom>
          <a:noFill/>
        </p:spPr>
        <p:txBody>
          <a:bodyPr wrap="square" lIns="0" tIns="18288" rIns="0" bIns="18288" anchor="t">
            <a:spAutoFit/>
          </a:bodyPr>
          <a:lstStyle/>
          <a:p>
            <a:pPr algn="l">
              <a:spcAft>
                <a:spcPts val="400"/>
              </a:spcAft>
            </a:pPr>
            <a:r>
              <a:rPr sz="1700" b="1">
                <a:solidFill>
                  <a:srgbClr val="1428A0"/>
                </a:solidFill>
                <a:latin typeface="Calibri"/>
              </a:rPr>
              <a:t>Works offline</a:t>
            </a:r>
          </a:p>
          <a:p>
            <a:pPr algn="l">
              <a:spcAft>
                <a:spcPts val="400"/>
              </a:spcAft>
            </a:pPr>
            <a:r>
              <a:rPr sz="1300" b="0">
                <a:solidFill>
                  <a:srgbClr val="111827"/>
                </a:solidFill>
                <a:latin typeface="Calibri"/>
              </a:rPr>
              <a:t>No API key needed, $0 per query. The LLM is an optional extra, re-checked like everything else.</a:t>
            </a:r>
          </a:p>
        </p:txBody>
      </p:sp>
      <p:pic>
        <p:nvPicPr>
          <p:cNvPr id="158" name="Picture 157" descr="image.png"/>
          <p:cNvPicPr>
            <a:picLocks noChangeAspect="1"/>
          </p:cNvPicPr>
          <p:nvPr/>
        </p:nvPicPr>
        <p:blipFill>
          <a:blip r:embed="rId3"/>
          <a:stretch>
            <a:fillRect/>
          </a:stretch>
        </p:blipFill>
        <p:spPr>
          <a:xfrm>
            <a:off x="7452360" y="1783080"/>
            <a:ext cx="3931920" cy="2457450"/>
          </a:xfrm>
          <a:prstGeom prst="rect">
            <a:avLst/>
          </a:prstGeom>
          <a:ln w="12700">
            <a:solidFill>
              <a:srgbClr val="D1D5DB"/>
            </a:solidFill>
          </a:ln>
        </p:spPr>
      </p:pic>
      <p:sp>
        <p:nvSpPr>
          <p:cNvPr id="159" name="TextBox 158"/>
          <p:cNvSpPr txBox="1"/>
          <p:nvPr/>
        </p:nvSpPr>
        <p:spPr>
          <a:xfrm>
            <a:off x="7452360" y="4343400"/>
            <a:ext cx="3931920" cy="548640"/>
          </a:xfrm>
          <a:prstGeom prst="rect">
            <a:avLst/>
          </a:prstGeom>
          <a:noFill/>
        </p:spPr>
        <p:txBody>
          <a:bodyPr wrap="square" lIns="0" tIns="18288" rIns="0" bIns="18288" anchor="t">
            <a:spAutoFit/>
          </a:bodyPr>
          <a:lstStyle/>
          <a:p>
            <a:pPr algn="l">
              <a:spcAft>
                <a:spcPts val="400"/>
              </a:spcAft>
            </a:pPr>
            <a:r>
              <a:rPr sz="1100" b="0">
                <a:solidFill>
                  <a:srgbClr val="4B5563"/>
                </a:solidFill>
                <a:latin typeface="Calibri"/>
              </a:rPr>
              <a:t>Metrics page in the console, same numbers as metrics.md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Checklist- Updated on Public GitHub</a:t>
            </a:r>
            <a:endParaRPr/>
          </a:p>
        </p:txBody>
      </p:sp>
      <p:sp>
        <p:nvSpPr>
          <p:cNvPr id="156" name="Google Shape;156;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77800" lvl="0" indent="-177800" algn="l" rtl="0">
              <a:lnSpc>
                <a:spcPct val="90000"/>
              </a:lnSpc>
              <a:spcBef>
                <a:spcPts val="0"/>
              </a:spcBef>
              <a:spcAft>
                <a:spcPts val="0"/>
              </a:spcAft>
              <a:buClr>
                <a:srgbClr val="63637E"/>
              </a:buClr>
              <a:buSzPts val="2800"/>
              <a:buChar char="•"/>
            </a:pPr>
            <a:r>
              <a:rPr lang="en-US" sz="2800" dirty="0">
                <a:solidFill>
                  <a:srgbClr val="63637E"/>
                </a:solidFill>
                <a:latin typeface="Calibri"/>
                <a:ea typeface="Calibri"/>
                <a:cs typeface="Calibri"/>
                <a:sym typeface="Calibri"/>
              </a:rPr>
              <a:t>Working prototype code — public or shared GitHub repo (Y/N)</a:t>
            </a:r>
            <a:r>
              <a:rPr sz="2800" b="1" dirty="0">
                <a:solidFill>
                  <a:srgbClr val="1428A0"/>
                </a:solidFill>
              </a:rPr>
              <a:t>   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README with reproducible setup instructions (Y/N)</a:t>
            </a:r>
            <a:r>
              <a:rPr sz="2800" b="1" dirty="0">
                <a:solidFill>
                  <a:srgbClr val="1428A0"/>
                </a:solidFill>
              </a:rPr>
              <a:t>   Y</a:t>
            </a:r>
            <a:endParaRPr sz="2800" dirty="0"/>
          </a:p>
          <a:p>
            <a:pPr marL="177800" lvl="0" indent="-177800">
              <a:spcBef>
                <a:spcPts val="1500"/>
              </a:spcBef>
              <a:buClr>
                <a:srgbClr val="63637E"/>
              </a:buClr>
              <a:buSzPts val="2800"/>
            </a:pPr>
            <a:r>
              <a:rPr lang="en-US" sz="2800" dirty="0">
                <a:solidFill>
                  <a:srgbClr val="63637E"/>
                </a:solidFill>
                <a:latin typeface="Calibri"/>
                <a:ea typeface="Calibri"/>
                <a:cs typeface="Calibri"/>
                <a:sym typeface="Calibri"/>
              </a:rPr>
              <a:t>Demo video, max 5 minutes (YouTube or Drive link)</a:t>
            </a:r>
            <a:r>
              <a:rPr sz="2800" b="1" dirty="0">
                <a:solidFill>
                  <a:srgbClr val="1428A0"/>
                </a:solidFill>
              </a:rPr>
              <a:t>   link: </a:t>
            </a:r>
            <a:r>
              <a:rPr lang="en-IN" b="1" dirty="0">
                <a:solidFill>
                  <a:srgbClr val="1428A0"/>
                </a:solidFill>
                <a:hlinkClick r:id="rId3"/>
              </a:rPr>
              <a:t>https://youtu.be/HOXW_BEBL_s?si=me-_9JaS3cTX85TM</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Presentation file (PPT or PDF) (Y/N)</a:t>
            </a:r>
            <a:r>
              <a:rPr sz="2800" b="1" dirty="0">
                <a:solidFill>
                  <a:srgbClr val="1428A0"/>
                </a:solidFill>
              </a:rPr>
              <a:t>   Y</a:t>
            </a:r>
            <a:endParaRPr sz="2800" dirty="0"/>
          </a:p>
          <a:p>
            <a:pPr marL="0" lvl="0" indent="0" algn="l" rtl="0">
              <a:lnSpc>
                <a:spcPct val="90000"/>
              </a:lnSpc>
              <a:spcBef>
                <a:spcPts val="1500"/>
              </a:spcBef>
              <a:spcAft>
                <a:spcPts val="0"/>
              </a:spcAft>
              <a:buClr>
                <a:schemeClr val="dk1"/>
              </a:buClr>
              <a:buSzPts val="280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4600"/>
              <a:buFont typeface="Arial"/>
              <a:buNone/>
            </a:pPr>
            <a:r>
              <a:rPr lang="en-US" sz="4600" b="1" i="0" u="none" strike="noStrike" cap="none">
                <a:solidFill>
                  <a:srgbClr val="14142B"/>
                </a:solidFill>
                <a:latin typeface="Arial"/>
                <a:ea typeface="Arial"/>
                <a:cs typeface="Arial"/>
                <a:sym typeface="Arial"/>
              </a:rPr>
              <a:t>Thank you</a:t>
            </a:r>
            <a:endParaRPr sz="4600" b="0" i="0" u="none" strike="noStrike" cap="non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637E"/>
              </a:buClr>
              <a:buSzPts val="1100"/>
              <a:buFont typeface="Calibri"/>
              <a:buNone/>
            </a:pPr>
            <a:r>
              <a:rPr lang="en-US" sz="1100" b="0" i="0" u="none" strike="noStrike" cap="none">
                <a:solidFill>
                  <a:srgbClr val="63637E"/>
                </a:solidFill>
                <a:latin typeface="Calibri"/>
                <a:ea typeface="Calibri"/>
                <a:cs typeface="Calibri"/>
                <a:sym typeface="Calibri"/>
              </a:rPr>
              <a:t>Organised by the Language AI Team and the PRISM Team, Samsung R&amp;D Institute India</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TotalTime>
  <Words>2006</Words>
  <Application>Microsoft Office PowerPoint</Application>
  <PresentationFormat>Widescreen</PresentationFormat>
  <Paragraphs>175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Binny Lakra/PRISM /SRI-Bangalore/Professional/Samsung Electronics</dc:creator>
  <cp:lastModifiedBy>Aadi //</cp:lastModifiedBy>
  <cp:revision>5</cp:revision>
  <dcterms:created xsi:type="dcterms:W3CDTF">2026-09-07T12:01:01Z</dcterms:created>
  <dcterms:modified xsi:type="dcterms:W3CDTF">2026-09-30T17:09:11Z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